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decision, not the dataset name. Every row is already a person with diabetes in the hospital. Tell the room the deck has three parts: the decision, what the file can and cannot support, and a solution path that stops before a finished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three cards first: who, when, decision. Then say why the middle label is the assignment. Close on the metric: if they report accuracy, they have not understood the base rate. The CMS line is there so you do not claim hospitals are fined specifically for diabetic readmissions. Diabetic patients are often admitted for heart and lung disease, which does overlap some penalty conditions, but diabetes itself is not an HRRP measure.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inclusion rules, then the bar. Stress that 11.2% is the raw early-readmission share. The 69,984 figure is the paper’s analysis set: one encounter per patient, deaths and hospice removed. Point at 30.6% so the room sees these are mostly heart and other admissions in people who also have diabetes. Mention the missing date and hospital id here — it is why a later slide says you cannot do a time or site backtest.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apologize for not having a trained model. Say the solution is the order of work. Step 3 is the intellectual core: a rule from prior admissions, disposition, and age. Step 4 is allowed only as a comparison against that rule, using precision inside a fixed call list, not accuracy. Point at the right panel as the literal next notebook tasks. If asked what you would ship later: a ranked list with three reasons per patient, reviewed by the case manager, with a field for whether the patient was actually contacted.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E5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7315200" cy="256032"/>
          </a:xfrm>
          <a:prstGeom prst="rect">
            <a:avLst/>
          </a:prstGeom>
          <a:noFill/>
        </p:spPr>
        <p:txBody>
          <a:bodyPr wrap="square" lIns="0" rIns="0" tIns="0" bIns="0" anchor="t"/>
          <a:lstStyle/>
          <a:p>
            <a:pPr algn="l">
              <a:spcBef>
                <a:spcPts val="0"/>
              </a:spcBef>
              <a:spcAft>
                <a:spcPts val="0"/>
              </a:spcAft>
            </a:pPr>
            <a:r>
              <a:rPr sz="1300" b="1" i="0">
                <a:solidFill>
                  <a:srgbClr val="0E5C59"/>
                </a:solidFill>
                <a:latin typeface="Calibri"/>
              </a:rPr>
              <a:t>FORWARD DEPLOYED ENGINEER COURSE</a:t>
            </a:r>
          </a:p>
        </p:txBody>
      </p:sp>
      <p:sp>
        <p:nvSpPr>
          <p:cNvPr id="4" name="TextBox 3"/>
          <p:cNvSpPr txBox="1"/>
          <p:nvPr/>
        </p:nvSpPr>
        <p:spPr>
          <a:xfrm>
            <a:off x="566928" y="777240"/>
            <a:ext cx="7498079" cy="1737360"/>
          </a:xfrm>
          <a:prstGeom prst="rect">
            <a:avLst/>
          </a:prstGeom>
          <a:noFill/>
        </p:spPr>
        <p:txBody>
          <a:bodyPr wrap="square" lIns="0" rIns="0" tIns="0" bIns="0" anchor="t"/>
          <a:lstStyle/>
          <a:p>
            <a:pPr algn="l">
              <a:spcBef>
                <a:spcPts val="0"/>
              </a:spcBef>
              <a:spcAft>
                <a:spcPts val="0"/>
              </a:spcAft>
            </a:pPr>
            <a:r>
              <a:rPr sz="4000" b="1" i="0">
                <a:solidFill>
                  <a:srgbClr val="1C2430"/>
                </a:solidFill>
                <a:latin typeface="Calibri"/>
              </a:rPr>
              <a:t>Who should get a follow-up</a:t>
            </a:r>
          </a:p>
          <a:p>
            <a:pPr algn="l">
              <a:spcBef>
                <a:spcPts val="0"/>
              </a:spcBef>
              <a:spcAft>
                <a:spcPts val="0"/>
              </a:spcAft>
            </a:pPr>
            <a:r>
              <a:rPr sz="4000" b="1" i="0">
                <a:solidFill>
                  <a:srgbClr val="1C2430"/>
                </a:solidFill>
                <a:latin typeface="Calibri"/>
              </a:rPr>
              <a:t>call at discharge?</a:t>
            </a:r>
          </a:p>
        </p:txBody>
      </p:sp>
      <p:sp>
        <p:nvSpPr>
          <p:cNvPr id="5" name="TextBox 4"/>
          <p:cNvSpPr txBox="1"/>
          <p:nvPr/>
        </p:nvSpPr>
        <p:spPr>
          <a:xfrm>
            <a:off x="566928" y="2697480"/>
            <a:ext cx="6949440" cy="685800"/>
          </a:xfrm>
          <a:prstGeom prst="rect">
            <a:avLst/>
          </a:prstGeom>
          <a:noFill/>
        </p:spPr>
        <p:txBody>
          <a:bodyPr wrap="square" lIns="0" rIns="0" tIns="0" bIns="0" anchor="t"/>
          <a:lstStyle/>
          <a:p>
            <a:pPr algn="l">
              <a:spcBef>
                <a:spcPts val="0"/>
              </a:spcBef>
              <a:spcAft>
                <a:spcPts val="0"/>
              </a:spcAft>
            </a:pPr>
            <a:r>
              <a:rPr sz="1600" b="0" i="0">
                <a:solidFill>
                  <a:srgbClr val="5C6670"/>
                </a:solidFill>
                <a:latin typeface="Calibri"/>
              </a:rPr>
              <a:t>Diabetic inpatient stays at 130 US hospitals, 1999–2008.</a:t>
            </a:r>
          </a:p>
          <a:p>
            <a:pPr algn="l">
              <a:spcBef>
                <a:spcPts val="0"/>
              </a:spcBef>
              <a:spcAft>
                <a:spcPts val="0"/>
              </a:spcAft>
            </a:pPr>
            <a:r>
              <a:rPr sz="1600" b="0" i="0">
                <a:solidFill>
                  <a:srgbClr val="5C6670"/>
                </a:solidFill>
                <a:latin typeface="Calibri"/>
              </a:rPr>
              <a:t>The task is a decision, a data contract, and a first solution — not a finished model.</a:t>
            </a:r>
          </a:p>
        </p:txBody>
      </p:sp>
      <p:sp>
        <p:nvSpPr>
          <p:cNvPr id="6" name="Rounded Rectangle 5"/>
          <p:cNvSpPr/>
          <p:nvPr/>
        </p:nvSpPr>
        <p:spPr>
          <a:xfrm>
            <a:off x="566928" y="3703320"/>
            <a:ext cx="11064240" cy="868680"/>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3703320"/>
            <a:ext cx="91440" cy="868680"/>
          </a:xfrm>
          <a:prstGeom prst="rect">
            <a:avLst/>
          </a:prstGeom>
          <a:solidFill>
            <a:srgbClr val="0E5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867911"/>
            <a:ext cx="640080" cy="502920"/>
          </a:xfrm>
          <a:prstGeom prst="rect">
            <a:avLst/>
          </a:prstGeom>
          <a:noFill/>
        </p:spPr>
        <p:txBody>
          <a:bodyPr wrap="square" lIns="0" rIns="0" tIns="0" bIns="0" anchor="ctr"/>
          <a:lstStyle/>
          <a:p>
            <a:pPr algn="l">
              <a:spcBef>
                <a:spcPts val="0"/>
              </a:spcBef>
              <a:spcAft>
                <a:spcPts val="0"/>
              </a:spcAft>
            </a:pPr>
            <a:r>
              <a:rPr sz="2000" b="1" i="0">
                <a:solidFill>
                  <a:srgbClr val="0E5C59"/>
                </a:solidFill>
                <a:latin typeface="Calibri"/>
              </a:rPr>
              <a:t>01</a:t>
            </a:r>
          </a:p>
        </p:txBody>
      </p:sp>
      <p:sp>
        <p:nvSpPr>
          <p:cNvPr id="9" name="TextBox 8"/>
          <p:cNvSpPr txBox="1"/>
          <p:nvPr/>
        </p:nvSpPr>
        <p:spPr>
          <a:xfrm>
            <a:off x="1600200" y="3813048"/>
            <a:ext cx="3017520" cy="640080"/>
          </a:xfrm>
          <a:prstGeom prst="rect">
            <a:avLst/>
          </a:prstGeom>
          <a:noFill/>
        </p:spPr>
        <p:txBody>
          <a:bodyPr wrap="square" lIns="0" rIns="0" tIns="0" bIns="0" anchor="ctr"/>
          <a:lstStyle/>
          <a:p>
            <a:pPr algn="l">
              <a:spcBef>
                <a:spcPts val="0"/>
              </a:spcBef>
              <a:spcAft>
                <a:spcPts val="0"/>
              </a:spcAft>
            </a:pPr>
            <a:r>
              <a:rPr sz="1800" b="1" i="0">
                <a:solidFill>
                  <a:srgbClr val="1C2430"/>
                </a:solidFill>
                <a:latin typeface="Calibri"/>
              </a:rPr>
              <a:t>The problem</a:t>
            </a:r>
          </a:p>
        </p:txBody>
      </p:sp>
      <p:sp>
        <p:nvSpPr>
          <p:cNvPr id="10" name="TextBox 9"/>
          <p:cNvSpPr txBox="1"/>
          <p:nvPr/>
        </p:nvSpPr>
        <p:spPr>
          <a:xfrm>
            <a:off x="4709160" y="3831335"/>
            <a:ext cx="6583680" cy="621792"/>
          </a:xfrm>
          <a:prstGeom prst="rect">
            <a:avLst/>
          </a:prstGeom>
          <a:noFill/>
        </p:spPr>
        <p:txBody>
          <a:bodyPr wrap="square" lIns="0" rIns="0" tIns="0" bIns="0" anchor="ctr"/>
          <a:lstStyle/>
          <a:p>
            <a:pPr algn="l">
              <a:spcBef>
                <a:spcPts val="0"/>
              </a:spcBef>
              <a:spcAft>
                <a:spcPts val="0"/>
              </a:spcAft>
            </a:pPr>
            <a:r>
              <a:rPr sz="1400" b="0" i="0">
                <a:solidFill>
                  <a:srgbClr val="5C6670"/>
                </a:solidFill>
                <a:latin typeface="Calibri"/>
              </a:rPr>
              <a:t>A planner with a short list must decide who is likely to be back in a hospital bed within 30 days.</a:t>
            </a:r>
          </a:p>
        </p:txBody>
      </p:sp>
      <p:sp>
        <p:nvSpPr>
          <p:cNvPr id="11" name="Rounded Rectangle 10"/>
          <p:cNvSpPr/>
          <p:nvPr/>
        </p:nvSpPr>
        <p:spPr>
          <a:xfrm>
            <a:off x="566928" y="4663440"/>
            <a:ext cx="11064240" cy="868680"/>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4663440"/>
            <a:ext cx="91440" cy="868680"/>
          </a:xfrm>
          <a:prstGeom prst="rect">
            <a:avLst/>
          </a:prstGeom>
          <a:solidFill>
            <a:srgbClr val="0E5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828031"/>
            <a:ext cx="640080" cy="502920"/>
          </a:xfrm>
          <a:prstGeom prst="rect">
            <a:avLst/>
          </a:prstGeom>
          <a:noFill/>
        </p:spPr>
        <p:txBody>
          <a:bodyPr wrap="square" lIns="0" rIns="0" tIns="0" bIns="0" anchor="ctr"/>
          <a:lstStyle/>
          <a:p>
            <a:pPr algn="l">
              <a:spcBef>
                <a:spcPts val="0"/>
              </a:spcBef>
              <a:spcAft>
                <a:spcPts val="0"/>
              </a:spcAft>
            </a:pPr>
            <a:r>
              <a:rPr sz="2000" b="1" i="0">
                <a:solidFill>
                  <a:srgbClr val="0E5C59"/>
                </a:solidFill>
                <a:latin typeface="Calibri"/>
              </a:rPr>
              <a:t>02</a:t>
            </a:r>
          </a:p>
        </p:txBody>
      </p:sp>
      <p:sp>
        <p:nvSpPr>
          <p:cNvPr id="14" name="TextBox 13"/>
          <p:cNvSpPr txBox="1"/>
          <p:nvPr/>
        </p:nvSpPr>
        <p:spPr>
          <a:xfrm>
            <a:off x="1600200" y="4773168"/>
            <a:ext cx="3017520" cy="640080"/>
          </a:xfrm>
          <a:prstGeom prst="rect">
            <a:avLst/>
          </a:prstGeom>
          <a:noFill/>
        </p:spPr>
        <p:txBody>
          <a:bodyPr wrap="square" lIns="0" rIns="0" tIns="0" bIns="0" anchor="ctr"/>
          <a:lstStyle/>
          <a:p>
            <a:pPr algn="l">
              <a:spcBef>
                <a:spcPts val="0"/>
              </a:spcBef>
              <a:spcAft>
                <a:spcPts val="0"/>
              </a:spcAft>
            </a:pPr>
            <a:r>
              <a:rPr sz="1800" b="1" i="0">
                <a:solidFill>
                  <a:srgbClr val="1C2430"/>
                </a:solidFill>
                <a:latin typeface="Calibri"/>
              </a:rPr>
              <a:t>The data available</a:t>
            </a:r>
          </a:p>
        </p:txBody>
      </p:sp>
      <p:sp>
        <p:nvSpPr>
          <p:cNvPr id="15" name="TextBox 14"/>
          <p:cNvSpPr txBox="1"/>
          <p:nvPr/>
        </p:nvSpPr>
        <p:spPr>
          <a:xfrm>
            <a:off x="4709160" y="4791455"/>
            <a:ext cx="6583680" cy="621792"/>
          </a:xfrm>
          <a:prstGeom prst="rect">
            <a:avLst/>
          </a:prstGeom>
          <a:noFill/>
        </p:spPr>
        <p:txBody>
          <a:bodyPr wrap="square" lIns="0" rIns="0" tIns="0" bIns="0" anchor="ctr"/>
          <a:lstStyle/>
          <a:p>
            <a:pPr algn="l">
              <a:spcBef>
                <a:spcPts val="0"/>
              </a:spcBef>
              <a:spcAft>
                <a:spcPts val="0"/>
              </a:spcAft>
            </a:pPr>
            <a:r>
              <a:rPr sz="1400" b="0" i="0">
                <a:solidFill>
                  <a:srgbClr val="5C6670"/>
                </a:solidFill>
                <a:latin typeface="Calibri"/>
              </a:rPr>
              <a:t>101,766 encounters. The stay, the care, and whether a later admission was observed in this network.</a:t>
            </a:r>
          </a:p>
        </p:txBody>
      </p:sp>
      <p:sp>
        <p:nvSpPr>
          <p:cNvPr id="16" name="Rounded Rectangle 15"/>
          <p:cNvSpPr/>
          <p:nvPr/>
        </p:nvSpPr>
        <p:spPr>
          <a:xfrm>
            <a:off x="566928" y="5623559"/>
            <a:ext cx="11064240" cy="868680"/>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5623559"/>
            <a:ext cx="91440" cy="868680"/>
          </a:xfrm>
          <a:prstGeom prst="rect">
            <a:avLst/>
          </a:prstGeom>
          <a:solidFill>
            <a:srgbClr val="0E5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5788151"/>
            <a:ext cx="640080" cy="502920"/>
          </a:xfrm>
          <a:prstGeom prst="rect">
            <a:avLst/>
          </a:prstGeom>
          <a:noFill/>
        </p:spPr>
        <p:txBody>
          <a:bodyPr wrap="square" lIns="0" rIns="0" tIns="0" bIns="0" anchor="ctr"/>
          <a:lstStyle/>
          <a:p>
            <a:pPr algn="l">
              <a:spcBef>
                <a:spcPts val="0"/>
              </a:spcBef>
              <a:spcAft>
                <a:spcPts val="0"/>
              </a:spcAft>
            </a:pPr>
            <a:r>
              <a:rPr sz="2000" b="1" i="0">
                <a:solidFill>
                  <a:srgbClr val="0E5C59"/>
                </a:solidFill>
                <a:latin typeface="Calibri"/>
              </a:rPr>
              <a:t>03</a:t>
            </a:r>
          </a:p>
        </p:txBody>
      </p:sp>
      <p:sp>
        <p:nvSpPr>
          <p:cNvPr id="19" name="TextBox 18"/>
          <p:cNvSpPr txBox="1"/>
          <p:nvPr/>
        </p:nvSpPr>
        <p:spPr>
          <a:xfrm>
            <a:off x="1600200" y="5733288"/>
            <a:ext cx="3017520" cy="640080"/>
          </a:xfrm>
          <a:prstGeom prst="rect">
            <a:avLst/>
          </a:prstGeom>
          <a:noFill/>
        </p:spPr>
        <p:txBody>
          <a:bodyPr wrap="square" lIns="0" rIns="0" tIns="0" bIns="0" anchor="ctr"/>
          <a:lstStyle/>
          <a:p>
            <a:pPr algn="l">
              <a:spcBef>
                <a:spcPts val="0"/>
              </a:spcBef>
              <a:spcAft>
                <a:spcPts val="0"/>
              </a:spcAft>
            </a:pPr>
            <a:r>
              <a:rPr sz="1800" b="1" i="0">
                <a:solidFill>
                  <a:srgbClr val="1C2430"/>
                </a:solidFill>
                <a:latin typeface="Calibri"/>
              </a:rPr>
              <a:t>Possible solution</a:t>
            </a:r>
          </a:p>
        </p:txBody>
      </p:sp>
      <p:sp>
        <p:nvSpPr>
          <p:cNvPr id="20" name="TextBox 19"/>
          <p:cNvSpPr txBox="1"/>
          <p:nvPr/>
        </p:nvSpPr>
        <p:spPr>
          <a:xfrm>
            <a:off x="4709160" y="5751575"/>
            <a:ext cx="6583680" cy="621792"/>
          </a:xfrm>
          <a:prstGeom prst="rect">
            <a:avLst/>
          </a:prstGeom>
          <a:noFill/>
        </p:spPr>
        <p:txBody>
          <a:bodyPr wrap="square" lIns="0" rIns="0" tIns="0" bIns="0" anchor="ctr"/>
          <a:lstStyle/>
          <a:p>
            <a:pPr algn="l">
              <a:spcBef>
                <a:spcPts val="0"/>
              </a:spcBef>
              <a:spcAft>
                <a:spcPts val="0"/>
              </a:spcAft>
            </a:pPr>
            <a:r>
              <a:rPr sz="1400" b="0" i="0">
                <a:solidFill>
                  <a:srgbClr val="5C6670"/>
                </a:solidFill>
                <a:latin typeface="Calibri"/>
              </a:rPr>
              <a:t>Lock the label, clean the cohort, and beat a simple rule before training anything heavier.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457200" y="256032"/>
            <a:ext cx="640080" cy="292608"/>
          </a:xfrm>
          <a:prstGeom prst="rect">
            <a:avLst/>
          </a:prstGeom>
          <a:noFill/>
        </p:spPr>
        <p:txBody>
          <a:bodyPr wrap="square" lIns="0" rIns="0" tIns="0" bIns="0" anchor="t"/>
          <a:lstStyle/>
          <a:p>
            <a:pPr algn="l">
              <a:spcBef>
                <a:spcPts val="0"/>
              </a:spcBef>
              <a:spcAft>
                <a:spcPts val="0"/>
              </a:spcAft>
            </a:pPr>
            <a:r>
              <a:rPr sz="1400" b="1" i="0">
                <a:solidFill>
                  <a:srgbClr val="0E5C59"/>
                </a:solidFill>
                <a:latin typeface="Calibri"/>
              </a:rPr>
              <a:t>01</a:t>
            </a:r>
          </a:p>
        </p:txBody>
      </p:sp>
      <p:sp>
        <p:nvSpPr>
          <p:cNvPr id="3" name="TextBox 2"/>
          <p:cNvSpPr txBox="1"/>
          <p:nvPr/>
        </p:nvSpPr>
        <p:spPr>
          <a:xfrm>
            <a:off x="1051560" y="274320"/>
            <a:ext cx="3657600" cy="256032"/>
          </a:xfrm>
          <a:prstGeom prst="rect">
            <a:avLst/>
          </a:prstGeom>
          <a:noFill/>
        </p:spPr>
        <p:txBody>
          <a:bodyPr wrap="square" lIns="0" rIns="0" tIns="0" bIns="0" anchor="ctr"/>
          <a:lstStyle/>
          <a:p>
            <a:pPr algn="l">
              <a:spcBef>
                <a:spcPts val="0"/>
              </a:spcBef>
              <a:spcAft>
                <a:spcPts val="0"/>
              </a:spcAft>
            </a:pPr>
            <a:r>
              <a:rPr sz="1300" b="1" i="0">
                <a:solidFill>
                  <a:srgbClr val="0E5C59"/>
                </a:solidFill>
                <a:latin typeface="Calibri"/>
              </a:rPr>
              <a:t>THE PROBLEM</a:t>
            </a:r>
          </a:p>
        </p:txBody>
      </p:sp>
      <p:sp>
        <p:nvSpPr>
          <p:cNvPr id="4" name="TextBox 3"/>
          <p:cNvSpPr txBox="1"/>
          <p:nvPr/>
        </p:nvSpPr>
        <p:spPr>
          <a:xfrm>
            <a:off x="457200" y="566928"/>
            <a:ext cx="11155680" cy="960120"/>
          </a:xfrm>
          <a:prstGeom prst="rect">
            <a:avLst/>
          </a:prstGeom>
          <a:noFill/>
        </p:spPr>
        <p:txBody>
          <a:bodyPr wrap="square" lIns="0" rIns="0" tIns="0" bIns="0" anchor="t"/>
          <a:lstStyle/>
          <a:p>
            <a:pPr algn="l">
              <a:spcBef>
                <a:spcPts val="0"/>
              </a:spcBef>
              <a:spcAft>
                <a:spcPts val="0"/>
              </a:spcAft>
            </a:pPr>
            <a:r>
              <a:rPr sz="2800" b="1" i="0">
                <a:solidFill>
                  <a:srgbClr val="1C2430"/>
                </a:solidFill>
                <a:latin typeface="Calibri"/>
              </a:rPr>
              <a:t>Spend limited follow-up on the people most likely</a:t>
            </a:r>
          </a:p>
          <a:p>
            <a:pPr algn="l">
              <a:spcBef>
                <a:spcPts val="0"/>
              </a:spcBef>
              <a:spcAft>
                <a:spcPts val="0"/>
              </a:spcAft>
            </a:pPr>
            <a:r>
              <a:rPr sz="2800" b="1" i="0">
                <a:solidFill>
                  <a:srgbClr val="1C2430"/>
                </a:solidFill>
                <a:latin typeface="Calibri"/>
              </a:rPr>
              <a:t>to return within 30 days.</a:t>
            </a:r>
          </a:p>
        </p:txBody>
      </p:sp>
      <p:sp>
        <p:nvSpPr>
          <p:cNvPr id="5" name="Rounded Rectangle 4"/>
          <p:cNvSpPr/>
          <p:nvPr/>
        </p:nvSpPr>
        <p:spPr>
          <a:xfrm>
            <a:off x="457200" y="1691640"/>
            <a:ext cx="3657600" cy="1874519"/>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847088"/>
            <a:ext cx="3246120" cy="310896"/>
          </a:xfrm>
          <a:prstGeom prst="rect">
            <a:avLst/>
          </a:prstGeom>
          <a:noFill/>
        </p:spPr>
        <p:txBody>
          <a:bodyPr wrap="square" lIns="0" rIns="0" tIns="0" bIns="0" anchor="t"/>
          <a:lstStyle/>
          <a:p>
            <a:pPr algn="l">
              <a:spcBef>
                <a:spcPts val="0"/>
              </a:spcBef>
              <a:spcAft>
                <a:spcPts val="0"/>
              </a:spcAft>
            </a:pPr>
            <a:r>
              <a:rPr sz="1600" b="1" i="0">
                <a:solidFill>
                  <a:srgbClr val="0E5C59"/>
                </a:solidFill>
                <a:latin typeface="Calibri"/>
              </a:rPr>
              <a:t>Who</a:t>
            </a:r>
          </a:p>
        </p:txBody>
      </p:sp>
      <p:sp>
        <p:nvSpPr>
          <p:cNvPr id="7" name="TextBox 6"/>
          <p:cNvSpPr txBox="1"/>
          <p:nvPr/>
        </p:nvSpPr>
        <p:spPr>
          <a:xfrm>
            <a:off x="658368" y="2194560"/>
            <a:ext cx="3246120" cy="1207008"/>
          </a:xfrm>
          <a:prstGeom prst="rect">
            <a:avLst/>
          </a:prstGeom>
          <a:noFill/>
        </p:spPr>
        <p:txBody>
          <a:bodyPr wrap="square" lIns="0" rIns="0" tIns="0" bIns="0" anchor="t"/>
          <a:lstStyle/>
          <a:p>
            <a:pPr algn="l">
              <a:spcBef>
                <a:spcPts val="0"/>
              </a:spcBef>
              <a:spcAft>
                <a:spcPts val="0"/>
              </a:spcAft>
            </a:pPr>
            <a:r>
              <a:rPr sz="1300" b="0" i="0">
                <a:solidFill>
                  <a:srgbClr val="1C2430"/>
                </a:solidFill>
                <a:latin typeface="Calibri"/>
              </a:rPr>
              <a:t>A discharge planner or case manager. They have a fixed number of calls, medication reviews, or teaching slots. They cannot offer one to every patient who is leaving.</a:t>
            </a:r>
          </a:p>
        </p:txBody>
      </p:sp>
      <p:sp>
        <p:nvSpPr>
          <p:cNvPr id="8" name="Rounded Rectangle 7"/>
          <p:cNvSpPr/>
          <p:nvPr/>
        </p:nvSpPr>
        <p:spPr>
          <a:xfrm>
            <a:off x="4261104" y="1691640"/>
            <a:ext cx="3657600" cy="1874519"/>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62272" y="1847088"/>
            <a:ext cx="3246120" cy="310896"/>
          </a:xfrm>
          <a:prstGeom prst="rect">
            <a:avLst/>
          </a:prstGeom>
          <a:noFill/>
        </p:spPr>
        <p:txBody>
          <a:bodyPr wrap="square" lIns="0" rIns="0" tIns="0" bIns="0" anchor="t"/>
          <a:lstStyle/>
          <a:p>
            <a:pPr algn="l">
              <a:spcBef>
                <a:spcPts val="0"/>
              </a:spcBef>
              <a:spcAft>
                <a:spcPts val="0"/>
              </a:spcAft>
            </a:pPr>
            <a:r>
              <a:rPr sz="1600" b="1" i="0">
                <a:solidFill>
                  <a:srgbClr val="0E5C59"/>
                </a:solidFill>
                <a:latin typeface="Calibri"/>
              </a:rPr>
              <a:t>When</a:t>
            </a:r>
          </a:p>
        </p:txBody>
      </p:sp>
      <p:sp>
        <p:nvSpPr>
          <p:cNvPr id="10" name="TextBox 9"/>
          <p:cNvSpPr txBox="1"/>
          <p:nvPr/>
        </p:nvSpPr>
        <p:spPr>
          <a:xfrm>
            <a:off x="4462272" y="2194560"/>
            <a:ext cx="3246120" cy="1207008"/>
          </a:xfrm>
          <a:prstGeom prst="rect">
            <a:avLst/>
          </a:prstGeom>
          <a:noFill/>
        </p:spPr>
        <p:txBody>
          <a:bodyPr wrap="square" lIns="0" rIns="0" tIns="0" bIns="0" anchor="t"/>
          <a:lstStyle/>
          <a:p>
            <a:pPr algn="l">
              <a:spcBef>
                <a:spcPts val="0"/>
              </a:spcBef>
              <a:spcAft>
                <a:spcPts val="0"/>
              </a:spcAft>
            </a:pPr>
            <a:r>
              <a:rPr sz="1300" b="0" i="0">
                <a:solidFill>
                  <a:srgbClr val="1C2430"/>
                </a:solidFill>
                <a:latin typeface="Calibri"/>
              </a:rPr>
              <a:t>At discharge. Labs, medications, length of stay, and where the patient is going are already known. A score that needs information from after they leave cannot be used.</a:t>
            </a:r>
          </a:p>
        </p:txBody>
      </p:sp>
      <p:sp>
        <p:nvSpPr>
          <p:cNvPr id="11" name="Rounded Rectangle 10"/>
          <p:cNvSpPr/>
          <p:nvPr/>
        </p:nvSpPr>
        <p:spPr>
          <a:xfrm>
            <a:off x="8065008" y="1691640"/>
            <a:ext cx="3657600" cy="1874519"/>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66176" y="1847088"/>
            <a:ext cx="3246120" cy="310896"/>
          </a:xfrm>
          <a:prstGeom prst="rect">
            <a:avLst/>
          </a:prstGeom>
          <a:noFill/>
        </p:spPr>
        <p:txBody>
          <a:bodyPr wrap="square" lIns="0" rIns="0" tIns="0" bIns="0" anchor="t"/>
          <a:lstStyle/>
          <a:p>
            <a:pPr algn="l">
              <a:spcBef>
                <a:spcPts val="0"/>
              </a:spcBef>
              <a:spcAft>
                <a:spcPts val="0"/>
              </a:spcAft>
            </a:pPr>
            <a:r>
              <a:rPr sz="1600" b="1" i="0">
                <a:solidFill>
                  <a:srgbClr val="0E5C59"/>
                </a:solidFill>
                <a:latin typeface="Calibri"/>
              </a:rPr>
              <a:t>The decision</a:t>
            </a:r>
          </a:p>
        </p:txBody>
      </p:sp>
      <p:sp>
        <p:nvSpPr>
          <p:cNvPr id="13" name="TextBox 12"/>
          <p:cNvSpPr txBox="1"/>
          <p:nvPr/>
        </p:nvSpPr>
        <p:spPr>
          <a:xfrm>
            <a:off x="8266176" y="2194560"/>
            <a:ext cx="3246120" cy="1207008"/>
          </a:xfrm>
          <a:prstGeom prst="rect">
            <a:avLst/>
          </a:prstGeom>
          <a:noFill/>
        </p:spPr>
        <p:txBody>
          <a:bodyPr wrap="square" lIns="0" rIns="0" tIns="0" bIns="0" anchor="t"/>
          <a:lstStyle/>
          <a:p>
            <a:pPr algn="l">
              <a:spcBef>
                <a:spcPts val="0"/>
              </a:spcBef>
              <a:spcAft>
                <a:spcPts val="0"/>
              </a:spcAft>
            </a:pPr>
            <a:r>
              <a:rPr sz="1300" b="0" i="0">
                <a:solidFill>
                  <a:srgbClr val="1C2430"/>
                </a:solidFill>
                <a:latin typeface="Calibri"/>
              </a:rPr>
              <a:t>Does this patient get a slot? Everyone in the file already has diabetes coded. The question is who comes back to a hospital bed.</a:t>
            </a:r>
          </a:p>
        </p:txBody>
      </p:sp>
      <p:sp>
        <p:nvSpPr>
          <p:cNvPr id="14" name="TextBox 13"/>
          <p:cNvSpPr txBox="1"/>
          <p:nvPr/>
        </p:nvSpPr>
        <p:spPr>
          <a:xfrm>
            <a:off x="457200" y="3730752"/>
            <a:ext cx="5486400" cy="237744"/>
          </a:xfrm>
          <a:prstGeom prst="rect">
            <a:avLst/>
          </a:prstGeom>
          <a:noFill/>
        </p:spPr>
        <p:txBody>
          <a:bodyPr wrap="square" lIns="0" rIns="0" tIns="0" bIns="0" anchor="t"/>
          <a:lstStyle/>
          <a:p>
            <a:pPr algn="l">
              <a:spcBef>
                <a:spcPts val="0"/>
              </a:spcBef>
              <a:spcAft>
                <a:spcPts val="0"/>
              </a:spcAft>
            </a:pPr>
            <a:r>
              <a:rPr sz="1200" b="1" i="0">
                <a:solidFill>
                  <a:srgbClr val="5C6670"/>
                </a:solidFill>
                <a:latin typeface="Calibri"/>
              </a:rPr>
              <a:t>WHICH QUESTION TO ANSWER</a:t>
            </a:r>
          </a:p>
        </p:txBody>
      </p:sp>
      <p:sp>
        <p:nvSpPr>
          <p:cNvPr id="15" name="Rounded Rectangle 14"/>
          <p:cNvSpPr/>
          <p:nvPr/>
        </p:nvSpPr>
        <p:spPr>
          <a:xfrm>
            <a:off x="457200" y="4023360"/>
            <a:ext cx="3657600" cy="1234440"/>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133087"/>
            <a:ext cx="3291840" cy="292608"/>
          </a:xfrm>
          <a:prstGeom prst="rect">
            <a:avLst/>
          </a:prstGeom>
          <a:noFill/>
        </p:spPr>
        <p:txBody>
          <a:bodyPr wrap="square" lIns="0" rIns="0" tIns="0" bIns="0" anchor="t"/>
          <a:lstStyle/>
          <a:p>
            <a:pPr algn="l">
              <a:spcBef>
                <a:spcPts val="0"/>
              </a:spcBef>
              <a:spcAft>
                <a:spcPts val="0"/>
              </a:spcAft>
            </a:pPr>
            <a:r>
              <a:rPr sz="1500" b="1" i="0">
                <a:solidFill>
                  <a:srgbClr val="1C2430"/>
                </a:solidFill>
                <a:latin typeface="Calibri"/>
              </a:rPr>
              <a:t>Ever readmitted</a:t>
            </a:r>
          </a:p>
        </p:txBody>
      </p:sp>
      <p:sp>
        <p:nvSpPr>
          <p:cNvPr id="17" name="TextBox 16"/>
          <p:cNvSpPr txBox="1"/>
          <p:nvPr/>
        </p:nvSpPr>
        <p:spPr>
          <a:xfrm>
            <a:off x="640080" y="4462272"/>
            <a:ext cx="3291840" cy="685800"/>
          </a:xfrm>
          <a:prstGeom prst="rect">
            <a:avLst/>
          </a:prstGeom>
          <a:noFill/>
        </p:spPr>
        <p:txBody>
          <a:bodyPr wrap="square" lIns="0" rIns="0" tIns="0" bIns="0" anchor="t"/>
          <a:lstStyle/>
          <a:p>
            <a:pPr algn="l">
              <a:spcBef>
                <a:spcPts val="0"/>
              </a:spcBef>
              <a:spcAft>
                <a:spcPts val="0"/>
              </a:spcAft>
            </a:pPr>
            <a:r>
              <a:rPr sz="1200" b="0" i="0">
                <a:solidFill>
                  <a:srgbClr val="1C2430"/>
                </a:solidFill>
                <a:latin typeface="Calibri"/>
              </a:rPr>
              <a:t>Mixes a failed discharge with a return many months later. A call this week cannot be credited for that.</a:t>
            </a:r>
          </a:p>
        </p:txBody>
      </p:sp>
      <p:sp>
        <p:nvSpPr>
          <p:cNvPr id="18" name="Rounded Rectangle 17"/>
          <p:cNvSpPr/>
          <p:nvPr/>
        </p:nvSpPr>
        <p:spPr>
          <a:xfrm>
            <a:off x="4261104" y="4023360"/>
            <a:ext cx="3657600" cy="1234440"/>
          </a:xfrm>
          <a:prstGeom prst="roundRect">
            <a:avLst>
              <a:gd name="adj" fmla="val 8000"/>
            </a:avLst>
          </a:prstGeom>
          <a:solidFill>
            <a:srgbClr val="E5F1F0"/>
          </a:solidFill>
          <a:ln w="12700">
            <a:solidFill>
              <a:srgbClr val="0E5C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43984" y="4133087"/>
            <a:ext cx="3291840" cy="292608"/>
          </a:xfrm>
          <a:prstGeom prst="rect">
            <a:avLst/>
          </a:prstGeom>
          <a:noFill/>
        </p:spPr>
        <p:txBody>
          <a:bodyPr wrap="square" lIns="0" rIns="0" tIns="0" bIns="0" anchor="t"/>
          <a:lstStyle/>
          <a:p>
            <a:pPr algn="l">
              <a:spcBef>
                <a:spcPts val="0"/>
              </a:spcBef>
              <a:spcAft>
                <a:spcPts val="0"/>
              </a:spcAft>
            </a:pPr>
            <a:r>
              <a:rPr sz="1500" b="1" i="0">
                <a:solidFill>
                  <a:srgbClr val="0E5C59"/>
                </a:solidFill>
                <a:latin typeface="Calibri"/>
              </a:rPr>
              <a:t>Within 30 days</a:t>
            </a:r>
          </a:p>
        </p:txBody>
      </p:sp>
      <p:sp>
        <p:nvSpPr>
          <p:cNvPr id="20" name="TextBox 19"/>
          <p:cNvSpPr txBox="1"/>
          <p:nvPr/>
        </p:nvSpPr>
        <p:spPr>
          <a:xfrm>
            <a:off x="4443984" y="4462272"/>
            <a:ext cx="3291840" cy="685800"/>
          </a:xfrm>
          <a:prstGeom prst="rect">
            <a:avLst/>
          </a:prstGeom>
          <a:noFill/>
        </p:spPr>
        <p:txBody>
          <a:bodyPr wrap="square" lIns="0" rIns="0" tIns="0" bIns="0" anchor="t"/>
          <a:lstStyle/>
          <a:p>
            <a:pPr algn="l">
              <a:spcBef>
                <a:spcPts val="0"/>
              </a:spcBef>
              <a:spcAft>
                <a:spcPts val="0"/>
              </a:spcAft>
            </a:pPr>
            <a:r>
              <a:rPr sz="1200" b="0" i="0">
                <a:solidFill>
                  <a:srgbClr val="1C2430"/>
                </a:solidFill>
                <a:latin typeface="Calibri"/>
              </a:rPr>
              <a:t>The window the team can still change. This is the label to use. It is also the one in the original study.</a:t>
            </a:r>
          </a:p>
        </p:txBody>
      </p:sp>
      <p:sp>
        <p:nvSpPr>
          <p:cNvPr id="21" name="Rounded Rectangle 20"/>
          <p:cNvSpPr/>
          <p:nvPr/>
        </p:nvSpPr>
        <p:spPr>
          <a:xfrm>
            <a:off x="8065008" y="4023360"/>
            <a:ext cx="3657600" cy="1234440"/>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47888" y="4133087"/>
            <a:ext cx="3291840" cy="292608"/>
          </a:xfrm>
          <a:prstGeom prst="rect">
            <a:avLst/>
          </a:prstGeom>
          <a:noFill/>
        </p:spPr>
        <p:txBody>
          <a:bodyPr wrap="square" lIns="0" rIns="0" tIns="0" bIns="0" anchor="t"/>
          <a:lstStyle/>
          <a:p>
            <a:pPr algn="l">
              <a:spcBef>
                <a:spcPts val="0"/>
              </a:spcBef>
              <a:spcAft>
                <a:spcPts val="0"/>
              </a:spcAft>
            </a:pPr>
            <a:r>
              <a:rPr sz="1500" b="1" i="0">
                <a:solidFill>
                  <a:srgbClr val="1C2430"/>
                </a:solidFill>
                <a:latin typeface="Calibri"/>
              </a:rPr>
              <a:t>Three classes</a:t>
            </a:r>
          </a:p>
        </p:txBody>
      </p:sp>
      <p:sp>
        <p:nvSpPr>
          <p:cNvPr id="23" name="TextBox 22"/>
          <p:cNvSpPr txBox="1"/>
          <p:nvPr/>
        </p:nvSpPr>
        <p:spPr>
          <a:xfrm>
            <a:off x="8247888" y="4462272"/>
            <a:ext cx="3291840" cy="685800"/>
          </a:xfrm>
          <a:prstGeom prst="rect">
            <a:avLst/>
          </a:prstGeom>
          <a:noFill/>
        </p:spPr>
        <p:txBody>
          <a:bodyPr wrap="square" lIns="0" rIns="0" tIns="0" bIns="0" anchor="t"/>
          <a:lstStyle/>
          <a:p>
            <a:pPr algn="l">
              <a:spcBef>
                <a:spcPts val="0"/>
              </a:spcBef>
              <a:spcAft>
                <a:spcPts val="0"/>
              </a:spcAft>
            </a:pPr>
            <a:r>
              <a:rPr sz="1200" b="0" i="0">
                <a:solidFill>
                  <a:srgbClr val="1C2430"/>
                </a:solidFill>
                <a:latin typeface="Calibri"/>
              </a:rPr>
              <a:t>Useful as a description of the file: none, late, early. The worklist is still yes or no.</a:t>
            </a:r>
          </a:p>
        </p:txBody>
      </p:sp>
      <p:sp>
        <p:nvSpPr>
          <p:cNvPr id="24" name="TextBox 23"/>
          <p:cNvSpPr txBox="1"/>
          <p:nvPr/>
        </p:nvSpPr>
        <p:spPr>
          <a:xfrm>
            <a:off x="457200" y="5394960"/>
            <a:ext cx="11247120" cy="640080"/>
          </a:xfrm>
          <a:prstGeom prst="rect">
            <a:avLst/>
          </a:prstGeom>
          <a:noFill/>
        </p:spPr>
        <p:txBody>
          <a:bodyPr wrap="square" lIns="0" rIns="0" tIns="0" bIns="0" anchor="t"/>
          <a:lstStyle/>
          <a:p>
            <a:pPr algn="l">
              <a:spcBef>
                <a:spcPts val="0"/>
              </a:spcBef>
              <a:spcAft>
                <a:spcPts val="0"/>
              </a:spcAft>
            </a:pPr>
            <a:r>
              <a:rPr sz="1300" b="0" i="0">
                <a:solidFill>
                  <a:srgbClr val="1C2430"/>
                </a:solidFill>
                <a:latin typeface="Calibri"/>
              </a:rPr>
              <a:t>11.2% of encounters return within 30 days. Predicting “no one returns” is already about 89% accurate, so accuracy is the wrong score. Count how many true 30-day returns fall inside the number of calls the team can actually make.</a:t>
            </a:r>
          </a:p>
        </p:txBody>
      </p:sp>
      <p:sp>
        <p:nvSpPr>
          <p:cNvPr id="25" name="TextBox 24"/>
          <p:cNvSpPr txBox="1"/>
          <p:nvPr/>
        </p:nvSpPr>
        <p:spPr>
          <a:xfrm>
            <a:off x="457200" y="6016752"/>
            <a:ext cx="11247120" cy="457200"/>
          </a:xfrm>
          <a:prstGeom prst="rect">
            <a:avLst/>
          </a:prstGeom>
          <a:noFill/>
        </p:spPr>
        <p:txBody>
          <a:bodyPr wrap="square" lIns="0" rIns="0" tIns="0" bIns="0" anchor="t"/>
          <a:lstStyle/>
          <a:p>
            <a:pPr algn="l">
              <a:spcBef>
                <a:spcPts val="0"/>
              </a:spcBef>
              <a:spcAft>
                <a:spcPts val="0"/>
              </a:spcAft>
            </a:pPr>
            <a:r>
              <a:rPr sz="1200" b="0" i="0">
                <a:solidFill>
                  <a:srgbClr val="5C6670"/>
                </a:solidFill>
                <a:latin typeface="Calibri"/>
              </a:rPr>
              <a:t>The original paper used 30 days because payers do. CMS readmission penalties cover heart attack, heart failure, pneumonia, COPD, bypass surgery, and elective hip or knee replacement — not a diabetes-only measure.</a:t>
            </a:r>
          </a:p>
        </p:txBody>
      </p:sp>
      <p:sp>
        <p:nvSpPr>
          <p:cNvPr id="26" name="Rectangle 25"/>
          <p:cNvSpPr/>
          <p:nvPr/>
        </p:nvSpPr>
        <p:spPr>
          <a:xfrm>
            <a:off x="0" y="6565392"/>
            <a:ext cx="12191695" cy="292608"/>
          </a:xfrm>
          <a:prstGeom prst="rect">
            <a:avLst/>
          </a:prstGeom>
          <a:solidFill>
            <a:srgbClr val="0E5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583680"/>
            <a:ext cx="7772400" cy="237744"/>
          </a:xfrm>
          <a:prstGeom prst="rect">
            <a:avLst/>
          </a:prstGeom>
          <a:noFill/>
        </p:spPr>
        <p:txBody>
          <a:bodyPr wrap="square" lIns="0" rIns="0" tIns="0" bIns="0" anchor="ctr"/>
          <a:lstStyle/>
          <a:p>
            <a:pPr algn="l">
              <a:spcBef>
                <a:spcPts val="0"/>
              </a:spcBef>
              <a:spcAft>
                <a:spcPts val="0"/>
              </a:spcAft>
            </a:pPr>
            <a:r>
              <a:rPr sz="1100" b="1" i="0">
                <a:solidFill>
                  <a:srgbClr val="FFFFFF"/>
                </a:solidFill>
                <a:latin typeface="Calibri"/>
              </a:rPr>
              <a:t>Step 1 of 3   ·   The problem</a:t>
            </a:r>
          </a:p>
        </p:txBody>
      </p:sp>
      <p:sp>
        <p:nvSpPr>
          <p:cNvPr id="28" name="TextBox 27"/>
          <p:cNvSpPr txBox="1"/>
          <p:nvPr/>
        </p:nvSpPr>
        <p:spPr>
          <a:xfrm>
            <a:off x="7589520" y="6583680"/>
            <a:ext cx="4114800" cy="237744"/>
          </a:xfrm>
          <a:prstGeom prst="rect">
            <a:avLst/>
          </a:prstGeom>
          <a:noFill/>
        </p:spPr>
        <p:txBody>
          <a:bodyPr wrap="square" lIns="0" rIns="0" tIns="0" bIns="0" anchor="ctr"/>
          <a:lstStyle/>
          <a:p>
            <a:pPr algn="r">
              <a:spcBef>
                <a:spcPts val="0"/>
              </a:spcBef>
              <a:spcAft>
                <a:spcPts val="0"/>
              </a:spcAft>
            </a:pPr>
            <a:r>
              <a:rPr sz="1100" b="0" i="0">
                <a:solidFill>
                  <a:srgbClr val="D5EEEC"/>
                </a:solidFill>
                <a:latin typeface="Calibri"/>
              </a:rPr>
              <a:t>UCI 296  ·  Strack et al. 2014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411480" y="201168"/>
            <a:ext cx="548640" cy="256032"/>
          </a:xfrm>
          <a:prstGeom prst="rect">
            <a:avLst/>
          </a:prstGeom>
          <a:noFill/>
        </p:spPr>
        <p:txBody>
          <a:bodyPr wrap="square" lIns="0" rIns="0" tIns="0" bIns="0" anchor="t"/>
          <a:lstStyle/>
          <a:p>
            <a:pPr algn="l">
              <a:spcBef>
                <a:spcPts val="0"/>
              </a:spcBef>
              <a:spcAft>
                <a:spcPts val="0"/>
              </a:spcAft>
            </a:pPr>
            <a:r>
              <a:rPr sz="1400" b="1" i="0">
                <a:solidFill>
                  <a:srgbClr val="0E5C59"/>
                </a:solidFill>
                <a:latin typeface="Calibri"/>
              </a:rPr>
              <a:t>02</a:t>
            </a:r>
          </a:p>
        </p:txBody>
      </p:sp>
      <p:sp>
        <p:nvSpPr>
          <p:cNvPr id="3" name="TextBox 2"/>
          <p:cNvSpPr txBox="1"/>
          <p:nvPr/>
        </p:nvSpPr>
        <p:spPr>
          <a:xfrm>
            <a:off x="960120" y="219456"/>
            <a:ext cx="4572000" cy="237744"/>
          </a:xfrm>
          <a:prstGeom prst="rect">
            <a:avLst/>
          </a:prstGeom>
          <a:noFill/>
        </p:spPr>
        <p:txBody>
          <a:bodyPr wrap="square" lIns="0" rIns="0" tIns="0" bIns="0" anchor="ctr"/>
          <a:lstStyle/>
          <a:p>
            <a:pPr algn="l">
              <a:spcBef>
                <a:spcPts val="0"/>
              </a:spcBef>
              <a:spcAft>
                <a:spcPts val="0"/>
              </a:spcAft>
            </a:pPr>
            <a:r>
              <a:rPr sz="1300" b="1" i="0">
                <a:solidFill>
                  <a:srgbClr val="0E5C59"/>
                </a:solidFill>
                <a:latin typeface="Calibri"/>
              </a:rPr>
              <a:t>THE DATA AVAILABLE</a:t>
            </a:r>
          </a:p>
        </p:txBody>
      </p:sp>
      <p:sp>
        <p:nvSpPr>
          <p:cNvPr id="4" name="TextBox 3"/>
          <p:cNvSpPr txBox="1"/>
          <p:nvPr/>
        </p:nvSpPr>
        <p:spPr>
          <a:xfrm>
            <a:off x="411480" y="457200"/>
            <a:ext cx="11338560" cy="365760"/>
          </a:xfrm>
          <a:prstGeom prst="rect">
            <a:avLst/>
          </a:prstGeom>
          <a:noFill/>
        </p:spPr>
        <p:txBody>
          <a:bodyPr wrap="square" lIns="0" rIns="0" tIns="0" bIns="0" anchor="t"/>
          <a:lstStyle/>
          <a:p>
            <a:pPr algn="l">
              <a:spcBef>
                <a:spcPts val="0"/>
              </a:spcBef>
              <a:spcAft>
                <a:spcPts val="0"/>
              </a:spcAft>
            </a:pPr>
            <a:r>
              <a:rPr sz="2200" b="1" i="0">
                <a:solidFill>
                  <a:srgbClr val="1C2430"/>
                </a:solidFill>
                <a:latin typeface="Calibri"/>
              </a:rPr>
              <a:t>One row is one diabetic inpatient stay, not a diagnosis of diabetes.</a:t>
            </a:r>
          </a:p>
        </p:txBody>
      </p:sp>
      <p:sp>
        <p:nvSpPr>
          <p:cNvPr id="5" name="Rounded Rectangle 4"/>
          <p:cNvSpPr/>
          <p:nvPr/>
        </p:nvSpPr>
        <p:spPr>
          <a:xfrm>
            <a:off x="411480" y="932688"/>
            <a:ext cx="2788920" cy="749808"/>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7784" y="987552"/>
            <a:ext cx="2514600" cy="365760"/>
          </a:xfrm>
          <a:prstGeom prst="rect">
            <a:avLst/>
          </a:prstGeom>
          <a:noFill/>
        </p:spPr>
        <p:txBody>
          <a:bodyPr wrap="square" lIns="0" rIns="0" tIns="0" bIns="0" anchor="t"/>
          <a:lstStyle/>
          <a:p>
            <a:pPr algn="l">
              <a:spcBef>
                <a:spcPts val="0"/>
              </a:spcBef>
              <a:spcAft>
                <a:spcPts val="0"/>
              </a:spcAft>
            </a:pPr>
            <a:r>
              <a:rPr sz="2200" b="1" i="0">
                <a:solidFill>
                  <a:srgbClr val="0E5C59"/>
                </a:solidFill>
                <a:latin typeface="Calibri"/>
              </a:rPr>
              <a:t>101,766</a:t>
            </a:r>
          </a:p>
        </p:txBody>
      </p:sp>
      <p:sp>
        <p:nvSpPr>
          <p:cNvPr id="7" name="TextBox 6"/>
          <p:cNvSpPr txBox="1"/>
          <p:nvPr/>
        </p:nvSpPr>
        <p:spPr>
          <a:xfrm>
            <a:off x="557784" y="1335024"/>
            <a:ext cx="2514600" cy="256032"/>
          </a:xfrm>
          <a:prstGeom prst="rect">
            <a:avLst/>
          </a:prstGeom>
          <a:noFill/>
        </p:spPr>
        <p:txBody>
          <a:bodyPr wrap="square" lIns="0" rIns="0" tIns="0" bIns="0" anchor="t"/>
          <a:lstStyle/>
          <a:p>
            <a:pPr algn="l">
              <a:spcBef>
                <a:spcPts val="0"/>
              </a:spcBef>
              <a:spcAft>
                <a:spcPts val="0"/>
              </a:spcAft>
            </a:pPr>
            <a:r>
              <a:rPr sz="1200" b="0" i="0">
                <a:solidFill>
                  <a:srgbClr val="5C6670"/>
                </a:solidFill>
                <a:latin typeface="Calibri"/>
              </a:rPr>
              <a:t>Encounters in the file</a:t>
            </a:r>
          </a:p>
        </p:txBody>
      </p:sp>
      <p:sp>
        <p:nvSpPr>
          <p:cNvPr id="8" name="Rounded Rectangle 7"/>
          <p:cNvSpPr/>
          <p:nvPr/>
        </p:nvSpPr>
        <p:spPr>
          <a:xfrm>
            <a:off x="3337560" y="932688"/>
            <a:ext cx="2788920" cy="749808"/>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83864" y="987552"/>
            <a:ext cx="2514600" cy="365760"/>
          </a:xfrm>
          <a:prstGeom prst="rect">
            <a:avLst/>
          </a:prstGeom>
          <a:noFill/>
        </p:spPr>
        <p:txBody>
          <a:bodyPr wrap="square" lIns="0" rIns="0" tIns="0" bIns="0" anchor="t"/>
          <a:lstStyle/>
          <a:p>
            <a:pPr algn="l">
              <a:spcBef>
                <a:spcPts val="0"/>
              </a:spcBef>
              <a:spcAft>
                <a:spcPts val="0"/>
              </a:spcAft>
            </a:pPr>
            <a:r>
              <a:rPr sz="2200" b="1" i="0">
                <a:solidFill>
                  <a:srgbClr val="0E5C59"/>
                </a:solidFill>
                <a:latin typeface="Calibri"/>
              </a:rPr>
              <a:t>71,518</a:t>
            </a:r>
          </a:p>
        </p:txBody>
      </p:sp>
      <p:sp>
        <p:nvSpPr>
          <p:cNvPr id="10" name="TextBox 9"/>
          <p:cNvSpPr txBox="1"/>
          <p:nvPr/>
        </p:nvSpPr>
        <p:spPr>
          <a:xfrm>
            <a:off x="3483864" y="1335024"/>
            <a:ext cx="2514600" cy="256032"/>
          </a:xfrm>
          <a:prstGeom prst="rect">
            <a:avLst/>
          </a:prstGeom>
          <a:noFill/>
        </p:spPr>
        <p:txBody>
          <a:bodyPr wrap="square" lIns="0" rIns="0" tIns="0" bIns="0" anchor="t"/>
          <a:lstStyle/>
          <a:p>
            <a:pPr algn="l">
              <a:spcBef>
                <a:spcPts val="0"/>
              </a:spcBef>
              <a:spcAft>
                <a:spcPts val="0"/>
              </a:spcAft>
            </a:pPr>
            <a:r>
              <a:rPr sz="1200" b="0" i="0">
                <a:solidFill>
                  <a:srgbClr val="5C6670"/>
                </a:solidFill>
                <a:latin typeface="Calibri"/>
              </a:rPr>
              <a:t>Unique patients</a:t>
            </a:r>
          </a:p>
        </p:txBody>
      </p:sp>
      <p:sp>
        <p:nvSpPr>
          <p:cNvPr id="11" name="Rounded Rectangle 10"/>
          <p:cNvSpPr/>
          <p:nvPr/>
        </p:nvSpPr>
        <p:spPr>
          <a:xfrm>
            <a:off x="6263640" y="932688"/>
            <a:ext cx="2788920" cy="749808"/>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987552"/>
            <a:ext cx="2514600" cy="365760"/>
          </a:xfrm>
          <a:prstGeom prst="rect">
            <a:avLst/>
          </a:prstGeom>
          <a:noFill/>
        </p:spPr>
        <p:txBody>
          <a:bodyPr wrap="square" lIns="0" rIns="0" tIns="0" bIns="0" anchor="t"/>
          <a:lstStyle/>
          <a:p>
            <a:pPr algn="l">
              <a:spcBef>
                <a:spcPts val="0"/>
              </a:spcBef>
              <a:spcAft>
                <a:spcPts val="0"/>
              </a:spcAft>
            </a:pPr>
            <a:r>
              <a:rPr sz="2200" b="1" i="0">
                <a:solidFill>
                  <a:srgbClr val="0E5C59"/>
                </a:solidFill>
                <a:latin typeface="Calibri"/>
              </a:rPr>
              <a:t>130</a:t>
            </a:r>
          </a:p>
        </p:txBody>
      </p:sp>
      <p:sp>
        <p:nvSpPr>
          <p:cNvPr id="13" name="TextBox 12"/>
          <p:cNvSpPr txBox="1"/>
          <p:nvPr/>
        </p:nvSpPr>
        <p:spPr>
          <a:xfrm>
            <a:off x="6409944" y="1335024"/>
            <a:ext cx="2514600" cy="256032"/>
          </a:xfrm>
          <a:prstGeom prst="rect">
            <a:avLst/>
          </a:prstGeom>
          <a:noFill/>
        </p:spPr>
        <p:txBody>
          <a:bodyPr wrap="square" lIns="0" rIns="0" tIns="0" bIns="0" anchor="t"/>
          <a:lstStyle/>
          <a:p>
            <a:pPr algn="l">
              <a:spcBef>
                <a:spcPts val="0"/>
              </a:spcBef>
              <a:spcAft>
                <a:spcPts val="0"/>
              </a:spcAft>
            </a:pPr>
            <a:r>
              <a:rPr sz="1200" b="0" i="0">
                <a:solidFill>
                  <a:srgbClr val="5C6670"/>
                </a:solidFill>
                <a:latin typeface="Calibri"/>
              </a:rPr>
              <a:t>US hospitals, 1999–2008</a:t>
            </a:r>
          </a:p>
        </p:txBody>
      </p:sp>
      <p:sp>
        <p:nvSpPr>
          <p:cNvPr id="14" name="Rounded Rectangle 13"/>
          <p:cNvSpPr/>
          <p:nvPr/>
        </p:nvSpPr>
        <p:spPr>
          <a:xfrm>
            <a:off x="9189720" y="932688"/>
            <a:ext cx="2788920" cy="749808"/>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36024" y="987552"/>
            <a:ext cx="2514600" cy="365760"/>
          </a:xfrm>
          <a:prstGeom prst="rect">
            <a:avLst/>
          </a:prstGeom>
          <a:noFill/>
        </p:spPr>
        <p:txBody>
          <a:bodyPr wrap="square" lIns="0" rIns="0" tIns="0" bIns="0" anchor="t"/>
          <a:lstStyle/>
          <a:p>
            <a:pPr algn="l">
              <a:spcBef>
                <a:spcPts val="0"/>
              </a:spcBef>
              <a:spcAft>
                <a:spcPts val="0"/>
              </a:spcAft>
            </a:pPr>
            <a:r>
              <a:rPr sz="2200" b="1" i="0">
                <a:solidFill>
                  <a:srgbClr val="0E5C59"/>
                </a:solidFill>
                <a:latin typeface="Calibri"/>
              </a:rPr>
              <a:t>69,984</a:t>
            </a:r>
          </a:p>
        </p:txBody>
      </p:sp>
      <p:sp>
        <p:nvSpPr>
          <p:cNvPr id="16" name="TextBox 15"/>
          <p:cNvSpPr txBox="1"/>
          <p:nvPr/>
        </p:nvSpPr>
        <p:spPr>
          <a:xfrm>
            <a:off x="9336024" y="1335024"/>
            <a:ext cx="2514600" cy="256032"/>
          </a:xfrm>
          <a:prstGeom prst="rect">
            <a:avLst/>
          </a:prstGeom>
          <a:noFill/>
        </p:spPr>
        <p:txBody>
          <a:bodyPr wrap="square" lIns="0" rIns="0" tIns="0" bIns="0" anchor="t"/>
          <a:lstStyle/>
          <a:p>
            <a:pPr algn="l">
              <a:spcBef>
                <a:spcPts val="0"/>
              </a:spcBef>
              <a:spcAft>
                <a:spcPts val="0"/>
              </a:spcAft>
            </a:pPr>
            <a:r>
              <a:rPr sz="1200" b="0" i="0">
                <a:solidFill>
                  <a:srgbClr val="5C6670"/>
                </a:solidFill>
                <a:latin typeface="Calibri"/>
              </a:rPr>
              <a:t>After the paper’s exclusions</a:t>
            </a:r>
          </a:p>
        </p:txBody>
      </p:sp>
      <p:sp>
        <p:nvSpPr>
          <p:cNvPr id="17" name="Rounded Rectangle 16"/>
          <p:cNvSpPr/>
          <p:nvPr/>
        </p:nvSpPr>
        <p:spPr>
          <a:xfrm>
            <a:off x="411480" y="1847088"/>
            <a:ext cx="5623560" cy="2331720"/>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1956816"/>
            <a:ext cx="5212080" cy="256032"/>
          </a:xfrm>
          <a:prstGeom prst="rect">
            <a:avLst/>
          </a:prstGeom>
          <a:noFill/>
        </p:spPr>
        <p:txBody>
          <a:bodyPr wrap="square" lIns="0" rIns="0" tIns="0" bIns="0" anchor="t"/>
          <a:lstStyle/>
          <a:p>
            <a:pPr algn="l">
              <a:spcBef>
                <a:spcPts val="0"/>
              </a:spcBef>
              <a:spcAft>
                <a:spcPts val="0"/>
              </a:spcAft>
            </a:pPr>
            <a:r>
              <a:rPr sz="1400" b="1" i="0">
                <a:solidFill>
                  <a:srgbClr val="1C2430"/>
                </a:solidFill>
                <a:latin typeface="Calibri"/>
              </a:rPr>
              <a:t>A stay is in the file only if</a:t>
            </a:r>
          </a:p>
        </p:txBody>
      </p:sp>
      <p:sp>
        <p:nvSpPr>
          <p:cNvPr id="19" name="Oval 18"/>
          <p:cNvSpPr/>
          <p:nvPr/>
        </p:nvSpPr>
        <p:spPr>
          <a:xfrm>
            <a:off x="621792" y="2340864"/>
            <a:ext cx="91440" cy="91440"/>
          </a:xfrm>
          <a:prstGeom prst="ellipse">
            <a:avLst/>
          </a:prstGeom>
          <a:solidFill>
            <a:srgbClr val="0E5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2286000"/>
            <a:ext cx="4937760" cy="384048"/>
          </a:xfrm>
          <a:prstGeom prst="rect">
            <a:avLst/>
          </a:prstGeom>
          <a:noFill/>
        </p:spPr>
        <p:txBody>
          <a:bodyPr wrap="square" lIns="0" rIns="0" tIns="0" bIns="0" anchor="t"/>
          <a:lstStyle/>
          <a:p>
            <a:pPr algn="l">
              <a:spcBef>
                <a:spcPts val="0"/>
              </a:spcBef>
              <a:spcAft>
                <a:spcPts val="0"/>
              </a:spcAft>
            </a:pPr>
            <a:r>
              <a:rPr sz="1300" b="0" i="0">
                <a:solidFill>
                  <a:srgbClr val="1C2430"/>
                </a:solidFill>
                <a:latin typeface="Calibri"/>
              </a:rPr>
              <a:t>It is an inpatient admission, and diabetes is coded on the encounter.</a:t>
            </a:r>
          </a:p>
        </p:txBody>
      </p:sp>
      <p:sp>
        <p:nvSpPr>
          <p:cNvPr id="21" name="Oval 20"/>
          <p:cNvSpPr/>
          <p:nvPr/>
        </p:nvSpPr>
        <p:spPr>
          <a:xfrm>
            <a:off x="621792" y="2761488"/>
            <a:ext cx="91440" cy="91440"/>
          </a:xfrm>
          <a:prstGeom prst="ellipse">
            <a:avLst/>
          </a:prstGeom>
          <a:solidFill>
            <a:srgbClr val="0E5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2706624"/>
            <a:ext cx="4937760" cy="384048"/>
          </a:xfrm>
          <a:prstGeom prst="rect">
            <a:avLst/>
          </a:prstGeom>
          <a:noFill/>
        </p:spPr>
        <p:txBody>
          <a:bodyPr wrap="square" lIns="0" rIns="0" tIns="0" bIns="0" anchor="t"/>
          <a:lstStyle/>
          <a:p>
            <a:pPr algn="l">
              <a:spcBef>
                <a:spcPts val="0"/>
              </a:spcBef>
              <a:spcAft>
                <a:spcPts val="0"/>
              </a:spcAft>
            </a:pPr>
            <a:r>
              <a:rPr sz="1300" b="0" i="0">
                <a:solidFill>
                  <a:srgbClr val="1C2430"/>
                </a:solidFill>
                <a:latin typeface="Calibri"/>
              </a:rPr>
              <a:t>Length of stay is between 1 and 14 days.</a:t>
            </a:r>
          </a:p>
        </p:txBody>
      </p:sp>
      <p:sp>
        <p:nvSpPr>
          <p:cNvPr id="23" name="Oval 22"/>
          <p:cNvSpPr/>
          <p:nvPr/>
        </p:nvSpPr>
        <p:spPr>
          <a:xfrm>
            <a:off x="621792" y="3182112"/>
            <a:ext cx="91440" cy="91440"/>
          </a:xfrm>
          <a:prstGeom prst="ellipse">
            <a:avLst/>
          </a:prstGeom>
          <a:solidFill>
            <a:srgbClr val="0E5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3127248"/>
            <a:ext cx="4937760" cy="384048"/>
          </a:xfrm>
          <a:prstGeom prst="rect">
            <a:avLst/>
          </a:prstGeom>
          <a:noFill/>
        </p:spPr>
        <p:txBody>
          <a:bodyPr wrap="square" lIns="0" rIns="0" tIns="0" bIns="0" anchor="t"/>
          <a:lstStyle/>
          <a:p>
            <a:pPr algn="l">
              <a:spcBef>
                <a:spcPts val="0"/>
              </a:spcBef>
              <a:spcAft>
                <a:spcPts val="0"/>
              </a:spcAft>
            </a:pPr>
            <a:r>
              <a:rPr sz="1300" b="0" i="0">
                <a:solidFill>
                  <a:srgbClr val="1C2430"/>
                </a:solidFill>
                <a:latin typeface="Calibri"/>
              </a:rPr>
              <a:t>Laboratory tests were done, and medications were given.</a:t>
            </a:r>
          </a:p>
        </p:txBody>
      </p:sp>
      <p:sp>
        <p:nvSpPr>
          <p:cNvPr id="25" name="Oval 24"/>
          <p:cNvSpPr/>
          <p:nvPr/>
        </p:nvSpPr>
        <p:spPr>
          <a:xfrm>
            <a:off x="621792" y="3602736"/>
            <a:ext cx="91440" cy="91440"/>
          </a:xfrm>
          <a:prstGeom prst="ellipse">
            <a:avLst/>
          </a:prstGeom>
          <a:solidFill>
            <a:srgbClr val="0E5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3547872"/>
            <a:ext cx="4937760" cy="384048"/>
          </a:xfrm>
          <a:prstGeom prst="rect">
            <a:avLst/>
          </a:prstGeom>
          <a:noFill/>
        </p:spPr>
        <p:txBody>
          <a:bodyPr wrap="square" lIns="0" rIns="0" tIns="0" bIns="0" anchor="t"/>
          <a:lstStyle/>
          <a:p>
            <a:pPr algn="l">
              <a:spcBef>
                <a:spcPts val="0"/>
              </a:spcBef>
              <a:spcAft>
                <a:spcPts val="0"/>
              </a:spcAft>
            </a:pPr>
            <a:r>
              <a:rPr sz="1300" b="0" i="0">
                <a:solidFill>
                  <a:srgbClr val="1C2430"/>
                </a:solidFill>
                <a:latin typeface="Calibri"/>
              </a:rPr>
              <a:t>Source is Cerner Health Facts, de-identified. Public file: UCI dataset 296.</a:t>
            </a:r>
          </a:p>
        </p:txBody>
      </p:sp>
      <p:sp>
        <p:nvSpPr>
          <p:cNvPr id="27" name="Rounded Rectangle 26"/>
          <p:cNvSpPr/>
          <p:nvPr/>
        </p:nvSpPr>
        <p:spPr>
          <a:xfrm>
            <a:off x="6199632" y="1847088"/>
            <a:ext cx="5577840" cy="2331720"/>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82512" y="1956816"/>
            <a:ext cx="5212080" cy="256032"/>
          </a:xfrm>
          <a:prstGeom prst="rect">
            <a:avLst/>
          </a:prstGeom>
          <a:noFill/>
        </p:spPr>
        <p:txBody>
          <a:bodyPr wrap="square" lIns="0" rIns="0" tIns="0" bIns="0" anchor="t"/>
          <a:lstStyle/>
          <a:p>
            <a:pPr algn="l">
              <a:spcBef>
                <a:spcPts val="0"/>
              </a:spcBef>
              <a:spcAft>
                <a:spcPts val="0"/>
              </a:spcAft>
            </a:pPr>
            <a:r>
              <a:rPr sz="1400" b="1" i="0">
                <a:solidFill>
                  <a:srgbClr val="1C2430"/>
                </a:solidFill>
                <a:latin typeface="Calibri"/>
              </a:rPr>
              <a:t>What happened after discharge</a:t>
            </a:r>
          </a:p>
        </p:txBody>
      </p:sp>
      <p:sp>
        <p:nvSpPr>
          <p:cNvPr id="29" name="TextBox 28"/>
          <p:cNvSpPr txBox="1"/>
          <p:nvPr/>
        </p:nvSpPr>
        <p:spPr>
          <a:xfrm>
            <a:off x="6382512" y="2212848"/>
            <a:ext cx="5212080" cy="219456"/>
          </a:xfrm>
          <a:prstGeom prst="rect">
            <a:avLst/>
          </a:prstGeom>
          <a:noFill/>
        </p:spPr>
        <p:txBody>
          <a:bodyPr wrap="square" lIns="0" rIns="0" tIns="0" bIns="0" anchor="t"/>
          <a:lstStyle/>
          <a:p>
            <a:pPr algn="l">
              <a:spcBef>
                <a:spcPts val="0"/>
              </a:spcBef>
              <a:spcAft>
                <a:spcPts val="0"/>
              </a:spcAft>
            </a:pPr>
            <a:r>
              <a:rPr sz="1200" b="0" i="0">
                <a:solidFill>
                  <a:srgbClr val="5C6670"/>
                </a:solidFill>
                <a:latin typeface="Calibri"/>
              </a:rPr>
              <a:t>Share of the 101,766 raw encounters</a:t>
            </a:r>
          </a:p>
        </p:txBody>
      </p:sp>
      <p:sp>
        <p:nvSpPr>
          <p:cNvPr id="30" name="Rectangle 29"/>
          <p:cNvSpPr/>
          <p:nvPr/>
        </p:nvSpPr>
        <p:spPr>
          <a:xfrm>
            <a:off x="6382512" y="2578608"/>
            <a:ext cx="2819076" cy="384048"/>
          </a:xfrm>
          <a:prstGeom prst="rect">
            <a:avLst/>
          </a:prstGeom>
          <a:solidFill>
            <a:srgbClr val="8A96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192444" y="2578608"/>
            <a:ext cx="1829628" cy="384048"/>
          </a:xfrm>
          <a:prstGeom prst="rect">
            <a:avLst/>
          </a:prstGeom>
          <a:solidFill>
            <a:srgbClr val="C4B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1012928" y="2578608"/>
            <a:ext cx="590807" cy="384048"/>
          </a:xfrm>
          <a:prstGeom prst="rect">
            <a:avLst/>
          </a:prstGeom>
          <a:solidFill>
            <a:srgbClr val="A34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82512" y="3108960"/>
            <a:ext cx="164592" cy="164592"/>
          </a:xfrm>
          <a:prstGeom prst="rect">
            <a:avLst/>
          </a:prstGeom>
          <a:solidFill>
            <a:srgbClr val="8A96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20256" y="3072384"/>
            <a:ext cx="1554480" cy="384048"/>
          </a:xfrm>
          <a:prstGeom prst="rect">
            <a:avLst/>
          </a:prstGeom>
          <a:noFill/>
        </p:spPr>
        <p:txBody>
          <a:bodyPr wrap="square" lIns="0" rIns="0" tIns="0" bIns="0" anchor="t"/>
          <a:lstStyle/>
          <a:p>
            <a:pPr algn="l">
              <a:spcBef>
                <a:spcPts val="0"/>
              </a:spcBef>
              <a:spcAft>
                <a:spcPts val="0"/>
              </a:spcAft>
            </a:pPr>
            <a:r>
              <a:rPr sz="1100" b="0" i="0">
                <a:solidFill>
                  <a:srgbClr val="1C2430"/>
                </a:solidFill>
                <a:latin typeface="Calibri"/>
              </a:rPr>
              <a:t>No readmission  53.9%</a:t>
            </a:r>
          </a:p>
        </p:txBody>
      </p:sp>
      <p:sp>
        <p:nvSpPr>
          <p:cNvPr id="35" name="Rectangle 34"/>
          <p:cNvSpPr/>
          <p:nvPr/>
        </p:nvSpPr>
        <p:spPr>
          <a:xfrm>
            <a:off x="8119872" y="3108960"/>
            <a:ext cx="164592" cy="164592"/>
          </a:xfrm>
          <a:prstGeom prst="rect">
            <a:avLst/>
          </a:prstGeom>
          <a:solidFill>
            <a:srgbClr val="C4B4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57616" y="3072384"/>
            <a:ext cx="1554480" cy="384048"/>
          </a:xfrm>
          <a:prstGeom prst="rect">
            <a:avLst/>
          </a:prstGeom>
          <a:noFill/>
        </p:spPr>
        <p:txBody>
          <a:bodyPr wrap="square" lIns="0" rIns="0" tIns="0" bIns="0" anchor="t"/>
          <a:lstStyle/>
          <a:p>
            <a:pPr algn="l">
              <a:spcBef>
                <a:spcPts val="0"/>
              </a:spcBef>
              <a:spcAft>
                <a:spcPts val="0"/>
              </a:spcAft>
            </a:pPr>
            <a:r>
              <a:rPr sz="1100" b="0" i="0">
                <a:solidFill>
                  <a:srgbClr val="1C2430"/>
                </a:solidFill>
                <a:latin typeface="Calibri"/>
              </a:rPr>
              <a:t>After 30 days  34.9%</a:t>
            </a:r>
          </a:p>
        </p:txBody>
      </p:sp>
      <p:sp>
        <p:nvSpPr>
          <p:cNvPr id="37" name="Rectangle 36"/>
          <p:cNvSpPr/>
          <p:nvPr/>
        </p:nvSpPr>
        <p:spPr>
          <a:xfrm>
            <a:off x="9857232" y="3108960"/>
            <a:ext cx="164592" cy="164592"/>
          </a:xfrm>
          <a:prstGeom prst="rect">
            <a:avLst/>
          </a:prstGeom>
          <a:solidFill>
            <a:srgbClr val="A34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94976" y="3072384"/>
            <a:ext cx="1554480" cy="384048"/>
          </a:xfrm>
          <a:prstGeom prst="rect">
            <a:avLst/>
          </a:prstGeom>
          <a:noFill/>
        </p:spPr>
        <p:txBody>
          <a:bodyPr wrap="square" lIns="0" rIns="0" tIns="0" bIns="0" anchor="t"/>
          <a:lstStyle/>
          <a:p>
            <a:pPr algn="l">
              <a:spcBef>
                <a:spcPts val="0"/>
              </a:spcBef>
              <a:spcAft>
                <a:spcPts val="0"/>
              </a:spcAft>
            </a:pPr>
            <a:r>
              <a:rPr sz="1100" b="0" i="0">
                <a:solidFill>
                  <a:srgbClr val="1C2430"/>
                </a:solidFill>
                <a:latin typeface="Calibri"/>
              </a:rPr>
              <a:t>Within 30 days  11.2%</a:t>
            </a:r>
          </a:p>
        </p:txBody>
      </p:sp>
      <p:sp>
        <p:nvSpPr>
          <p:cNvPr id="39" name="TextBox 38"/>
          <p:cNvSpPr txBox="1"/>
          <p:nvPr/>
        </p:nvSpPr>
        <p:spPr>
          <a:xfrm>
            <a:off x="6382512" y="3520440"/>
            <a:ext cx="5212080" cy="502920"/>
          </a:xfrm>
          <a:prstGeom prst="rect">
            <a:avLst/>
          </a:prstGeom>
          <a:noFill/>
        </p:spPr>
        <p:txBody>
          <a:bodyPr wrap="square" lIns="0" rIns="0" tIns="0" bIns="0" anchor="t"/>
          <a:lstStyle/>
          <a:p>
            <a:pPr algn="l">
              <a:spcBef>
                <a:spcPts val="0"/>
              </a:spcBef>
              <a:spcAft>
                <a:spcPts val="0"/>
              </a:spcAft>
            </a:pPr>
            <a:r>
              <a:rPr sz="1200" b="0" i="0">
                <a:solidFill>
                  <a:srgbClr val="5C6670"/>
                </a:solidFill>
                <a:latin typeface="Calibri"/>
              </a:rPr>
              <a:t>“No readmission” means no later stay was seen in this data network. A return to a hospital outside it is invisible.</a:t>
            </a:r>
          </a:p>
        </p:txBody>
      </p:sp>
      <p:sp>
        <p:nvSpPr>
          <p:cNvPr id="40" name="TextBox 39"/>
          <p:cNvSpPr txBox="1"/>
          <p:nvPr/>
        </p:nvSpPr>
        <p:spPr>
          <a:xfrm>
            <a:off x="411480" y="4297680"/>
            <a:ext cx="7315200" cy="219456"/>
          </a:xfrm>
          <a:prstGeom prst="rect">
            <a:avLst/>
          </a:prstGeom>
          <a:noFill/>
        </p:spPr>
        <p:txBody>
          <a:bodyPr wrap="square" lIns="0" rIns="0" tIns="0" bIns="0" anchor="t"/>
          <a:lstStyle/>
          <a:p>
            <a:pPr algn="l">
              <a:spcBef>
                <a:spcPts val="0"/>
              </a:spcBef>
              <a:spcAft>
                <a:spcPts val="0"/>
              </a:spcAft>
            </a:pPr>
            <a:r>
              <a:rPr sz="1100" b="1" i="0">
                <a:solidFill>
                  <a:srgbClr val="5C6670"/>
                </a:solidFill>
                <a:latin typeface="Calibri"/>
              </a:rPr>
              <a:t>WHAT THE PUBLISHED ANALYSIS ALREADY SHOWED</a:t>
            </a:r>
          </a:p>
        </p:txBody>
      </p:sp>
      <p:sp>
        <p:nvSpPr>
          <p:cNvPr id="41" name="Rounded Rectangle 40"/>
          <p:cNvSpPr/>
          <p:nvPr/>
        </p:nvSpPr>
        <p:spPr>
          <a:xfrm>
            <a:off x="411480" y="4572000"/>
            <a:ext cx="2788920" cy="1170432"/>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9496" y="4645152"/>
            <a:ext cx="2514600" cy="310896"/>
          </a:xfrm>
          <a:prstGeom prst="rect">
            <a:avLst/>
          </a:prstGeom>
          <a:noFill/>
        </p:spPr>
        <p:txBody>
          <a:bodyPr wrap="square" lIns="0" rIns="0" tIns="0" bIns="0" anchor="t"/>
          <a:lstStyle/>
          <a:p>
            <a:pPr algn="l">
              <a:spcBef>
                <a:spcPts val="0"/>
              </a:spcBef>
              <a:spcAft>
                <a:spcPts val="0"/>
              </a:spcAft>
            </a:pPr>
            <a:r>
              <a:rPr sz="1800" b="1" i="0">
                <a:solidFill>
                  <a:srgbClr val="A34B28"/>
                </a:solidFill>
                <a:latin typeface="Calibri"/>
              </a:rPr>
              <a:t>30.6%</a:t>
            </a:r>
          </a:p>
        </p:txBody>
      </p:sp>
      <p:sp>
        <p:nvSpPr>
          <p:cNvPr id="43" name="TextBox 42"/>
          <p:cNvSpPr txBox="1"/>
          <p:nvPr/>
        </p:nvSpPr>
        <p:spPr>
          <a:xfrm>
            <a:off x="539496" y="4974336"/>
            <a:ext cx="2523744" cy="676656"/>
          </a:xfrm>
          <a:prstGeom prst="rect">
            <a:avLst/>
          </a:prstGeom>
          <a:noFill/>
        </p:spPr>
        <p:txBody>
          <a:bodyPr wrap="square" lIns="0" rIns="0" tIns="0" bIns="0" anchor="t"/>
          <a:lstStyle/>
          <a:p>
            <a:pPr algn="l">
              <a:spcBef>
                <a:spcPts val="0"/>
              </a:spcBef>
              <a:spcAft>
                <a:spcPts val="0"/>
              </a:spcAft>
            </a:pPr>
            <a:r>
              <a:rPr sz="1100" b="0" i="0">
                <a:solidFill>
                  <a:srgbClr val="1C2430"/>
                </a:solidFill>
                <a:latin typeface="Calibri"/>
              </a:rPr>
              <a:t>Primary diagnosis is circulatory disease. Diabetes itself is the primary reason in only 8.2% of stays.</a:t>
            </a:r>
          </a:p>
        </p:txBody>
      </p:sp>
      <p:sp>
        <p:nvSpPr>
          <p:cNvPr id="44" name="Rounded Rectangle 43"/>
          <p:cNvSpPr/>
          <p:nvPr/>
        </p:nvSpPr>
        <p:spPr>
          <a:xfrm>
            <a:off x="3337560" y="4572000"/>
            <a:ext cx="2788920" cy="1170432"/>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65576" y="4645152"/>
            <a:ext cx="2514600" cy="310896"/>
          </a:xfrm>
          <a:prstGeom prst="rect">
            <a:avLst/>
          </a:prstGeom>
          <a:noFill/>
        </p:spPr>
        <p:txBody>
          <a:bodyPr wrap="square" lIns="0" rIns="0" tIns="0" bIns="0" anchor="t"/>
          <a:lstStyle/>
          <a:p>
            <a:pPr algn="l">
              <a:spcBef>
                <a:spcPts val="0"/>
              </a:spcBef>
              <a:spcAft>
                <a:spcPts val="0"/>
              </a:spcAft>
            </a:pPr>
            <a:r>
              <a:rPr sz="1800" b="1" i="0">
                <a:solidFill>
                  <a:srgbClr val="A34B28"/>
                </a:solidFill>
                <a:latin typeface="Calibri"/>
              </a:rPr>
              <a:t>12.8%</a:t>
            </a:r>
          </a:p>
        </p:txBody>
      </p:sp>
      <p:sp>
        <p:nvSpPr>
          <p:cNvPr id="46" name="TextBox 45"/>
          <p:cNvSpPr txBox="1"/>
          <p:nvPr/>
        </p:nvSpPr>
        <p:spPr>
          <a:xfrm>
            <a:off x="3465576" y="4974336"/>
            <a:ext cx="2523744" cy="676656"/>
          </a:xfrm>
          <a:prstGeom prst="rect">
            <a:avLst/>
          </a:prstGeom>
          <a:noFill/>
        </p:spPr>
        <p:txBody>
          <a:bodyPr wrap="square" lIns="0" rIns="0" tIns="0" bIns="0" anchor="t"/>
          <a:lstStyle/>
          <a:p>
            <a:pPr algn="l">
              <a:spcBef>
                <a:spcPts val="0"/>
              </a:spcBef>
              <a:spcAft>
                <a:spcPts val="0"/>
              </a:spcAft>
            </a:pPr>
            <a:r>
              <a:rPr sz="1100" b="0" i="0">
                <a:solidFill>
                  <a:srgbClr val="1C2430"/>
                </a:solidFill>
                <a:latin typeface="Calibri"/>
              </a:rPr>
              <a:t>Early readmission if not discharged home, versus 7.2% when discharged home.</a:t>
            </a:r>
          </a:p>
        </p:txBody>
      </p:sp>
      <p:sp>
        <p:nvSpPr>
          <p:cNvPr id="47" name="Rounded Rectangle 46"/>
          <p:cNvSpPr/>
          <p:nvPr/>
        </p:nvSpPr>
        <p:spPr>
          <a:xfrm>
            <a:off x="6263640" y="4572000"/>
            <a:ext cx="2788920" cy="1170432"/>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91656" y="4645152"/>
            <a:ext cx="2514600" cy="310896"/>
          </a:xfrm>
          <a:prstGeom prst="rect">
            <a:avLst/>
          </a:prstGeom>
          <a:noFill/>
        </p:spPr>
        <p:txBody>
          <a:bodyPr wrap="square" lIns="0" rIns="0" tIns="0" bIns="0" anchor="t"/>
          <a:lstStyle/>
          <a:p>
            <a:pPr algn="l">
              <a:spcBef>
                <a:spcPts val="0"/>
              </a:spcBef>
              <a:spcAft>
                <a:spcPts val="0"/>
              </a:spcAft>
            </a:pPr>
            <a:r>
              <a:rPr sz="1800" b="1" i="0">
                <a:solidFill>
                  <a:srgbClr val="A34B28"/>
                </a:solidFill>
                <a:latin typeface="Calibri"/>
              </a:rPr>
              <a:t>18.4%</a:t>
            </a:r>
          </a:p>
        </p:txBody>
      </p:sp>
      <p:sp>
        <p:nvSpPr>
          <p:cNvPr id="49" name="TextBox 48"/>
          <p:cNvSpPr txBox="1"/>
          <p:nvPr/>
        </p:nvSpPr>
        <p:spPr>
          <a:xfrm>
            <a:off x="6391656" y="4974336"/>
            <a:ext cx="2523744" cy="676656"/>
          </a:xfrm>
          <a:prstGeom prst="rect">
            <a:avLst/>
          </a:prstGeom>
          <a:noFill/>
        </p:spPr>
        <p:txBody>
          <a:bodyPr wrap="square" lIns="0" rIns="0" tIns="0" bIns="0" anchor="t"/>
          <a:lstStyle/>
          <a:p>
            <a:pPr algn="l">
              <a:spcBef>
                <a:spcPts val="0"/>
              </a:spcBef>
              <a:spcAft>
                <a:spcPts val="0"/>
              </a:spcAft>
            </a:pPr>
            <a:r>
              <a:rPr sz="1100" b="0" i="0">
                <a:solidFill>
                  <a:srgbClr val="1C2430"/>
                </a:solidFill>
                <a:latin typeface="Calibri"/>
              </a:rPr>
              <a:t>of stays had an HbA1c ordered. “None” means not tested. Keep that as its own category.</a:t>
            </a:r>
          </a:p>
        </p:txBody>
      </p:sp>
      <p:sp>
        <p:nvSpPr>
          <p:cNvPr id="50" name="Rounded Rectangle 49"/>
          <p:cNvSpPr/>
          <p:nvPr/>
        </p:nvSpPr>
        <p:spPr>
          <a:xfrm>
            <a:off x="9189720" y="4572000"/>
            <a:ext cx="2788920" cy="1170432"/>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317736" y="4645152"/>
            <a:ext cx="2514600" cy="310896"/>
          </a:xfrm>
          <a:prstGeom prst="rect">
            <a:avLst/>
          </a:prstGeom>
          <a:noFill/>
        </p:spPr>
        <p:txBody>
          <a:bodyPr wrap="square" lIns="0" rIns="0" tIns="0" bIns="0" anchor="t"/>
          <a:lstStyle/>
          <a:p>
            <a:pPr algn="l">
              <a:spcBef>
                <a:spcPts val="0"/>
              </a:spcBef>
              <a:spcAft>
                <a:spcPts val="0"/>
              </a:spcAft>
            </a:pPr>
            <a:r>
              <a:rPr sz="1800" b="1" i="0">
                <a:solidFill>
                  <a:srgbClr val="A34B28"/>
                </a:solidFill>
                <a:latin typeface="Calibri"/>
              </a:rPr>
              <a:t>9.2%</a:t>
            </a:r>
          </a:p>
        </p:txBody>
      </p:sp>
      <p:sp>
        <p:nvSpPr>
          <p:cNvPr id="52" name="TextBox 51"/>
          <p:cNvSpPr txBox="1"/>
          <p:nvPr/>
        </p:nvSpPr>
        <p:spPr>
          <a:xfrm>
            <a:off x="9317736" y="4974336"/>
            <a:ext cx="2523744" cy="676656"/>
          </a:xfrm>
          <a:prstGeom prst="rect">
            <a:avLst/>
          </a:prstGeom>
          <a:noFill/>
        </p:spPr>
        <p:txBody>
          <a:bodyPr wrap="square" lIns="0" rIns="0" tIns="0" bIns="0" anchor="t"/>
          <a:lstStyle/>
          <a:p>
            <a:pPr algn="l">
              <a:spcBef>
                <a:spcPts val="0"/>
              </a:spcBef>
              <a:spcAft>
                <a:spcPts val="0"/>
              </a:spcAft>
            </a:pPr>
            <a:r>
              <a:rPr sz="1100" b="0" i="0">
                <a:solidFill>
                  <a:srgbClr val="1C2430"/>
                </a:solidFill>
                <a:latin typeface="Calibri"/>
              </a:rPr>
              <a:t>Early-readmission rate after removing death and hospice and keeping the first encounter per patient.</a:t>
            </a:r>
          </a:p>
        </p:txBody>
      </p:sp>
      <p:sp>
        <p:nvSpPr>
          <p:cNvPr id="53" name="TextBox 52"/>
          <p:cNvSpPr txBox="1"/>
          <p:nvPr/>
        </p:nvSpPr>
        <p:spPr>
          <a:xfrm>
            <a:off x="411480" y="5833872"/>
            <a:ext cx="11338560" cy="621792"/>
          </a:xfrm>
          <a:prstGeom prst="rect">
            <a:avLst/>
          </a:prstGeom>
          <a:noFill/>
        </p:spPr>
        <p:txBody>
          <a:bodyPr wrap="square" lIns="0" rIns="0" tIns="0" bIns="0" anchor="t"/>
          <a:lstStyle/>
          <a:p>
            <a:pPr algn="l">
              <a:spcBef>
                <a:spcPts val="0"/>
              </a:spcBef>
              <a:spcAft>
                <a:spcPts val="0"/>
              </a:spcAft>
            </a:pPr>
            <a:r>
              <a:rPr sz="1200" b="0" i="0">
                <a:solidFill>
                  <a:srgbClr val="5C6670"/>
                </a:solidFill>
                <a:latin typeface="Calibri"/>
              </a:rPr>
              <a:t>Also in the file: prior-year outpatient, emergency, and inpatient visits; ICD-9 diagnoses; in-hospital diabetes medication changes. Weight is 97% missing. Payer code and admitting specialty are each missing about half the time. There is no admission date and no hospital id.</a:t>
            </a:r>
          </a:p>
        </p:txBody>
      </p:sp>
      <p:sp>
        <p:nvSpPr>
          <p:cNvPr id="54" name="Rectangle 53"/>
          <p:cNvSpPr/>
          <p:nvPr/>
        </p:nvSpPr>
        <p:spPr>
          <a:xfrm>
            <a:off x="0" y="6565392"/>
            <a:ext cx="12191695" cy="292608"/>
          </a:xfrm>
          <a:prstGeom prst="rect">
            <a:avLst/>
          </a:prstGeom>
          <a:solidFill>
            <a:srgbClr val="0E5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6583680"/>
            <a:ext cx="7772400" cy="237744"/>
          </a:xfrm>
          <a:prstGeom prst="rect">
            <a:avLst/>
          </a:prstGeom>
          <a:noFill/>
        </p:spPr>
        <p:txBody>
          <a:bodyPr wrap="square" lIns="0" rIns="0" tIns="0" bIns="0" anchor="ctr"/>
          <a:lstStyle/>
          <a:p>
            <a:pPr algn="l">
              <a:spcBef>
                <a:spcPts val="0"/>
              </a:spcBef>
              <a:spcAft>
                <a:spcPts val="0"/>
              </a:spcAft>
            </a:pPr>
            <a:r>
              <a:rPr sz="1100" b="1" i="0">
                <a:solidFill>
                  <a:srgbClr val="FFFFFF"/>
                </a:solidFill>
                <a:latin typeface="Calibri"/>
              </a:rPr>
              <a:t>Step 2 of 3   ·   The data available</a:t>
            </a:r>
          </a:p>
        </p:txBody>
      </p:sp>
      <p:sp>
        <p:nvSpPr>
          <p:cNvPr id="56" name="TextBox 55"/>
          <p:cNvSpPr txBox="1"/>
          <p:nvPr/>
        </p:nvSpPr>
        <p:spPr>
          <a:xfrm>
            <a:off x="7589520" y="6583680"/>
            <a:ext cx="4114800" cy="237744"/>
          </a:xfrm>
          <a:prstGeom prst="rect">
            <a:avLst/>
          </a:prstGeom>
          <a:noFill/>
        </p:spPr>
        <p:txBody>
          <a:bodyPr wrap="square" lIns="0" rIns="0" tIns="0" bIns="0" anchor="ctr"/>
          <a:lstStyle/>
          <a:p>
            <a:pPr algn="r">
              <a:spcBef>
                <a:spcPts val="0"/>
              </a:spcBef>
              <a:spcAft>
                <a:spcPts val="0"/>
              </a:spcAft>
            </a:pPr>
            <a:r>
              <a:rPr sz="1100" b="0" i="0">
                <a:solidFill>
                  <a:srgbClr val="D5EEEC"/>
                </a:solidFill>
                <a:latin typeface="Calibri"/>
              </a:rPr>
              <a:t>UCI 296  ·  Strack et al. 2014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411480" y="201168"/>
            <a:ext cx="548640" cy="256032"/>
          </a:xfrm>
          <a:prstGeom prst="rect">
            <a:avLst/>
          </a:prstGeom>
          <a:noFill/>
        </p:spPr>
        <p:txBody>
          <a:bodyPr wrap="square" lIns="0" rIns="0" tIns="0" bIns="0" anchor="t"/>
          <a:lstStyle/>
          <a:p>
            <a:pPr algn="l">
              <a:spcBef>
                <a:spcPts val="0"/>
              </a:spcBef>
              <a:spcAft>
                <a:spcPts val="0"/>
              </a:spcAft>
            </a:pPr>
            <a:r>
              <a:rPr sz="1400" b="1" i="0">
                <a:solidFill>
                  <a:srgbClr val="0E5C59"/>
                </a:solidFill>
                <a:latin typeface="Calibri"/>
              </a:rPr>
              <a:t>03</a:t>
            </a:r>
          </a:p>
        </p:txBody>
      </p:sp>
      <p:sp>
        <p:nvSpPr>
          <p:cNvPr id="3" name="TextBox 2"/>
          <p:cNvSpPr txBox="1"/>
          <p:nvPr/>
        </p:nvSpPr>
        <p:spPr>
          <a:xfrm>
            <a:off x="960120" y="219456"/>
            <a:ext cx="4572000" cy="237744"/>
          </a:xfrm>
          <a:prstGeom prst="rect">
            <a:avLst/>
          </a:prstGeom>
          <a:noFill/>
        </p:spPr>
        <p:txBody>
          <a:bodyPr wrap="square" lIns="0" rIns="0" tIns="0" bIns="0" anchor="ctr"/>
          <a:lstStyle/>
          <a:p>
            <a:pPr algn="l">
              <a:spcBef>
                <a:spcPts val="0"/>
              </a:spcBef>
              <a:spcAft>
                <a:spcPts val="0"/>
              </a:spcAft>
            </a:pPr>
            <a:r>
              <a:rPr sz="1300" b="1" i="0">
                <a:solidFill>
                  <a:srgbClr val="0E5C59"/>
                </a:solidFill>
                <a:latin typeface="Calibri"/>
              </a:rPr>
              <a:t>POSSIBLE SOLUTION</a:t>
            </a:r>
          </a:p>
        </p:txBody>
      </p:sp>
      <p:sp>
        <p:nvSpPr>
          <p:cNvPr id="4" name="TextBox 3"/>
          <p:cNvSpPr txBox="1"/>
          <p:nvPr/>
        </p:nvSpPr>
        <p:spPr>
          <a:xfrm>
            <a:off x="411480" y="457200"/>
            <a:ext cx="7772400" cy="365760"/>
          </a:xfrm>
          <a:prstGeom prst="rect">
            <a:avLst/>
          </a:prstGeom>
          <a:noFill/>
        </p:spPr>
        <p:txBody>
          <a:bodyPr wrap="square" lIns="0" rIns="0" tIns="0" bIns="0" anchor="t"/>
          <a:lstStyle/>
          <a:p>
            <a:pPr algn="l">
              <a:spcBef>
                <a:spcPts val="0"/>
              </a:spcBef>
              <a:spcAft>
                <a:spcPts val="0"/>
              </a:spcAft>
            </a:pPr>
            <a:r>
              <a:rPr sz="2400" b="1" i="0">
                <a:solidFill>
                  <a:srgbClr val="1C2430"/>
                </a:solidFill>
                <a:latin typeface="Calibri"/>
              </a:rPr>
              <a:t>A discharge worklist. Build it in order.</a:t>
            </a:r>
          </a:p>
        </p:txBody>
      </p:sp>
      <p:sp>
        <p:nvSpPr>
          <p:cNvPr id="5" name="TextBox 4"/>
          <p:cNvSpPr txBox="1"/>
          <p:nvPr/>
        </p:nvSpPr>
        <p:spPr>
          <a:xfrm>
            <a:off x="7680960" y="512064"/>
            <a:ext cx="4114800" cy="292608"/>
          </a:xfrm>
          <a:prstGeom prst="rect">
            <a:avLst/>
          </a:prstGeom>
          <a:noFill/>
        </p:spPr>
        <p:txBody>
          <a:bodyPr wrap="square" lIns="0" rIns="0" tIns="0" bIns="0" anchor="t"/>
          <a:lstStyle/>
          <a:p>
            <a:pPr algn="r">
              <a:spcBef>
                <a:spcPts val="0"/>
              </a:spcBef>
              <a:spcAft>
                <a:spcPts val="0"/>
              </a:spcAft>
            </a:pPr>
            <a:r>
              <a:rPr sz="1300" b="0" i="1">
                <a:solidFill>
                  <a:srgbClr val="5C6670"/>
                </a:solidFill>
                <a:latin typeface="Calibri"/>
              </a:rPr>
              <a:t>Stop when the next step does not beat the previous one.</a:t>
            </a:r>
          </a:p>
        </p:txBody>
      </p:sp>
      <p:sp>
        <p:nvSpPr>
          <p:cNvPr id="6" name="Rounded Rectangle 5"/>
          <p:cNvSpPr/>
          <p:nvPr/>
        </p:nvSpPr>
        <p:spPr>
          <a:xfrm>
            <a:off x="411480" y="960120"/>
            <a:ext cx="7818120" cy="877824"/>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85216" y="1197864"/>
            <a:ext cx="402336" cy="402336"/>
          </a:xfrm>
          <a:prstGeom prst="ellipse">
            <a:avLst/>
          </a:prstGeom>
          <a:solidFill>
            <a:srgbClr val="0E5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1234440"/>
            <a:ext cx="402336" cy="329184"/>
          </a:xfrm>
          <a:prstGeom prst="rect">
            <a:avLst/>
          </a:prstGeom>
          <a:noFill/>
        </p:spPr>
        <p:txBody>
          <a:bodyPr wrap="square" lIns="0" rIns="0" tIns="0" bIns="0" anchor="ctr"/>
          <a:lstStyle/>
          <a:p>
            <a:pPr algn="ctr">
              <a:spcBef>
                <a:spcPts val="0"/>
              </a:spcBef>
              <a:spcAft>
                <a:spcPts val="0"/>
              </a:spcAft>
            </a:pPr>
            <a:r>
              <a:rPr sz="1600" b="1" i="0">
                <a:solidFill>
                  <a:srgbClr val="FFFFFF"/>
                </a:solidFill>
                <a:latin typeface="Calibri"/>
              </a:rPr>
              <a:t>1</a:t>
            </a:r>
          </a:p>
        </p:txBody>
      </p:sp>
      <p:sp>
        <p:nvSpPr>
          <p:cNvPr id="9" name="TextBox 8"/>
          <p:cNvSpPr txBox="1"/>
          <p:nvPr/>
        </p:nvSpPr>
        <p:spPr>
          <a:xfrm>
            <a:off x="1152144" y="1051560"/>
            <a:ext cx="6858000" cy="256032"/>
          </a:xfrm>
          <a:prstGeom prst="rect">
            <a:avLst/>
          </a:prstGeom>
          <a:noFill/>
        </p:spPr>
        <p:txBody>
          <a:bodyPr wrap="square" lIns="0" rIns="0" tIns="0" bIns="0" anchor="t"/>
          <a:lstStyle/>
          <a:p>
            <a:pPr algn="l">
              <a:spcBef>
                <a:spcPts val="0"/>
              </a:spcBef>
              <a:spcAft>
                <a:spcPts val="0"/>
              </a:spcAft>
            </a:pPr>
            <a:r>
              <a:rPr sz="1500" b="1" i="0">
                <a:solidFill>
                  <a:srgbClr val="1C2430"/>
                </a:solidFill>
                <a:latin typeface="Calibri"/>
              </a:rPr>
              <a:t>Lock the decision</a:t>
            </a:r>
          </a:p>
        </p:txBody>
      </p:sp>
      <p:sp>
        <p:nvSpPr>
          <p:cNvPr id="10" name="TextBox 9"/>
          <p:cNvSpPr txBox="1"/>
          <p:nvPr/>
        </p:nvSpPr>
        <p:spPr>
          <a:xfrm>
            <a:off x="1152144" y="1344168"/>
            <a:ext cx="6858000" cy="420624"/>
          </a:xfrm>
          <a:prstGeom prst="rect">
            <a:avLst/>
          </a:prstGeom>
          <a:noFill/>
        </p:spPr>
        <p:txBody>
          <a:bodyPr wrap="square" lIns="0" rIns="0" tIns="0" bIns="0" anchor="t"/>
          <a:lstStyle/>
          <a:p>
            <a:pPr algn="l">
              <a:spcBef>
                <a:spcPts val="0"/>
              </a:spcBef>
              <a:spcAft>
                <a:spcPts val="0"/>
              </a:spcAft>
            </a:pPr>
            <a:r>
              <a:rPr sz="1300" b="0" i="0">
                <a:solidFill>
                  <a:srgbClr val="5C6670"/>
                </a:solidFill>
                <a:latin typeface="Calibri"/>
              </a:rPr>
              <a:t>Label: readmitted within 30 days. User: the discharge planner. Moment: before the patient leaves.</a:t>
            </a:r>
          </a:p>
        </p:txBody>
      </p:sp>
      <p:sp>
        <p:nvSpPr>
          <p:cNvPr id="11" name="Rounded Rectangle 10"/>
          <p:cNvSpPr/>
          <p:nvPr/>
        </p:nvSpPr>
        <p:spPr>
          <a:xfrm>
            <a:off x="411480" y="1892808"/>
            <a:ext cx="7818120" cy="877824"/>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85216" y="2130552"/>
            <a:ext cx="402336" cy="402336"/>
          </a:xfrm>
          <a:prstGeom prst="ellipse">
            <a:avLst/>
          </a:prstGeom>
          <a:solidFill>
            <a:srgbClr val="0E5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5216" y="2167128"/>
            <a:ext cx="402336" cy="329184"/>
          </a:xfrm>
          <a:prstGeom prst="rect">
            <a:avLst/>
          </a:prstGeom>
          <a:noFill/>
        </p:spPr>
        <p:txBody>
          <a:bodyPr wrap="square" lIns="0" rIns="0" tIns="0" bIns="0" anchor="ctr"/>
          <a:lstStyle/>
          <a:p>
            <a:pPr algn="ctr">
              <a:spcBef>
                <a:spcPts val="0"/>
              </a:spcBef>
              <a:spcAft>
                <a:spcPts val="0"/>
              </a:spcAft>
            </a:pPr>
            <a:r>
              <a:rPr sz="1600" b="1" i="0">
                <a:solidFill>
                  <a:srgbClr val="FFFFFF"/>
                </a:solidFill>
                <a:latin typeface="Calibri"/>
              </a:rPr>
              <a:t>2</a:t>
            </a:r>
          </a:p>
        </p:txBody>
      </p:sp>
      <p:sp>
        <p:nvSpPr>
          <p:cNvPr id="14" name="TextBox 13"/>
          <p:cNvSpPr txBox="1"/>
          <p:nvPr/>
        </p:nvSpPr>
        <p:spPr>
          <a:xfrm>
            <a:off x="1152144" y="1984248"/>
            <a:ext cx="6858000" cy="256032"/>
          </a:xfrm>
          <a:prstGeom prst="rect">
            <a:avLst/>
          </a:prstGeom>
          <a:noFill/>
        </p:spPr>
        <p:txBody>
          <a:bodyPr wrap="square" lIns="0" rIns="0" tIns="0" bIns="0" anchor="t"/>
          <a:lstStyle/>
          <a:p>
            <a:pPr algn="l">
              <a:spcBef>
                <a:spcPts val="0"/>
              </a:spcBef>
              <a:spcAft>
                <a:spcPts val="0"/>
              </a:spcAft>
            </a:pPr>
            <a:r>
              <a:rPr sz="1500" b="1" i="0">
                <a:solidFill>
                  <a:srgbClr val="1C2430"/>
                </a:solidFill>
                <a:latin typeface="Calibri"/>
              </a:rPr>
              <a:t>Lock the cohort</a:t>
            </a:r>
          </a:p>
        </p:txBody>
      </p:sp>
      <p:sp>
        <p:nvSpPr>
          <p:cNvPr id="15" name="TextBox 14"/>
          <p:cNvSpPr txBox="1"/>
          <p:nvPr/>
        </p:nvSpPr>
        <p:spPr>
          <a:xfrm>
            <a:off x="1152144" y="2276856"/>
            <a:ext cx="6858000" cy="420624"/>
          </a:xfrm>
          <a:prstGeom prst="rect">
            <a:avLst/>
          </a:prstGeom>
          <a:noFill/>
        </p:spPr>
        <p:txBody>
          <a:bodyPr wrap="square" lIns="0" rIns="0" tIns="0" bIns="0" anchor="t"/>
          <a:lstStyle/>
          <a:p>
            <a:pPr algn="l">
              <a:spcBef>
                <a:spcPts val="0"/>
              </a:spcBef>
              <a:spcAft>
                <a:spcPts val="0"/>
              </a:spcAft>
            </a:pPr>
            <a:r>
              <a:rPr sz="1300" b="0" i="0">
                <a:solidFill>
                  <a:srgbClr val="5C6670"/>
                </a:solidFill>
                <a:latin typeface="Calibri"/>
              </a:rPr>
              <a:t>Drop expired and hospice stays. One encounter per patient (69,984). Keep each patient entirely in train or entirely in test.</a:t>
            </a:r>
          </a:p>
        </p:txBody>
      </p:sp>
      <p:sp>
        <p:nvSpPr>
          <p:cNvPr id="16" name="Rounded Rectangle 15"/>
          <p:cNvSpPr/>
          <p:nvPr/>
        </p:nvSpPr>
        <p:spPr>
          <a:xfrm>
            <a:off x="411480" y="2825496"/>
            <a:ext cx="7818120" cy="877824"/>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5216" y="3063240"/>
            <a:ext cx="402336" cy="402336"/>
          </a:xfrm>
          <a:prstGeom prst="ellipse">
            <a:avLst/>
          </a:prstGeom>
          <a:solidFill>
            <a:srgbClr val="0E5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5216" y="3099816"/>
            <a:ext cx="402336" cy="329184"/>
          </a:xfrm>
          <a:prstGeom prst="rect">
            <a:avLst/>
          </a:prstGeom>
          <a:noFill/>
        </p:spPr>
        <p:txBody>
          <a:bodyPr wrap="square" lIns="0" rIns="0" tIns="0" bIns="0" anchor="ctr"/>
          <a:lstStyle/>
          <a:p>
            <a:pPr algn="ctr">
              <a:spcBef>
                <a:spcPts val="0"/>
              </a:spcBef>
              <a:spcAft>
                <a:spcPts val="0"/>
              </a:spcAft>
            </a:pPr>
            <a:r>
              <a:rPr sz="1600" b="1" i="0">
                <a:solidFill>
                  <a:srgbClr val="FFFFFF"/>
                </a:solidFill>
                <a:latin typeface="Calibri"/>
              </a:rPr>
              <a:t>3</a:t>
            </a:r>
          </a:p>
        </p:txBody>
      </p:sp>
      <p:sp>
        <p:nvSpPr>
          <p:cNvPr id="19" name="TextBox 18"/>
          <p:cNvSpPr txBox="1"/>
          <p:nvPr/>
        </p:nvSpPr>
        <p:spPr>
          <a:xfrm>
            <a:off x="1152144" y="2916936"/>
            <a:ext cx="6858000" cy="256032"/>
          </a:xfrm>
          <a:prstGeom prst="rect">
            <a:avLst/>
          </a:prstGeom>
          <a:noFill/>
        </p:spPr>
        <p:txBody>
          <a:bodyPr wrap="square" lIns="0" rIns="0" tIns="0" bIns="0" anchor="t"/>
          <a:lstStyle/>
          <a:p>
            <a:pPr algn="l">
              <a:spcBef>
                <a:spcPts val="0"/>
              </a:spcBef>
              <a:spcAft>
                <a:spcPts val="0"/>
              </a:spcAft>
            </a:pPr>
            <a:r>
              <a:rPr sz="1500" b="1" i="0">
                <a:solidFill>
                  <a:srgbClr val="1C2430"/>
                </a:solidFill>
                <a:latin typeface="Calibri"/>
              </a:rPr>
              <a:t>Write the baseline</a:t>
            </a:r>
          </a:p>
        </p:txBody>
      </p:sp>
      <p:sp>
        <p:nvSpPr>
          <p:cNvPr id="20" name="TextBox 19"/>
          <p:cNvSpPr txBox="1"/>
          <p:nvPr/>
        </p:nvSpPr>
        <p:spPr>
          <a:xfrm>
            <a:off x="1152144" y="3209544"/>
            <a:ext cx="6858000" cy="420624"/>
          </a:xfrm>
          <a:prstGeom prst="rect">
            <a:avLst/>
          </a:prstGeom>
          <a:noFill/>
        </p:spPr>
        <p:txBody>
          <a:bodyPr wrap="square" lIns="0" rIns="0" tIns="0" bIns="0" anchor="t"/>
          <a:lstStyle/>
          <a:p>
            <a:pPr algn="l">
              <a:spcBef>
                <a:spcPts val="0"/>
              </a:spcBef>
              <a:spcAft>
                <a:spcPts val="0"/>
              </a:spcAft>
            </a:pPr>
            <a:r>
              <a:rPr sz="1300" b="0" i="0">
                <a:solidFill>
                  <a:srgbClr val="5C6670"/>
                </a:solidFill>
                <a:latin typeface="Calibri"/>
              </a:rPr>
              <a:t>Prior inpatient visits, not discharged home, and age over 60. Score only as many patients as the team can call.</a:t>
            </a:r>
          </a:p>
        </p:txBody>
      </p:sp>
      <p:sp>
        <p:nvSpPr>
          <p:cNvPr id="21" name="Rounded Rectangle 20"/>
          <p:cNvSpPr/>
          <p:nvPr/>
        </p:nvSpPr>
        <p:spPr>
          <a:xfrm>
            <a:off x="411480" y="3758184"/>
            <a:ext cx="7818120" cy="877824"/>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5216" y="3995928"/>
            <a:ext cx="402336" cy="402336"/>
          </a:xfrm>
          <a:prstGeom prst="ellipse">
            <a:avLst/>
          </a:prstGeom>
          <a:solidFill>
            <a:srgbClr val="0E5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5216" y="4032504"/>
            <a:ext cx="402336" cy="329184"/>
          </a:xfrm>
          <a:prstGeom prst="rect">
            <a:avLst/>
          </a:prstGeom>
          <a:noFill/>
        </p:spPr>
        <p:txBody>
          <a:bodyPr wrap="square" lIns="0" rIns="0" tIns="0" bIns="0" anchor="ctr"/>
          <a:lstStyle/>
          <a:p>
            <a:pPr algn="ctr">
              <a:spcBef>
                <a:spcPts val="0"/>
              </a:spcBef>
              <a:spcAft>
                <a:spcPts val="0"/>
              </a:spcAft>
            </a:pPr>
            <a:r>
              <a:rPr sz="1600" b="1" i="0">
                <a:solidFill>
                  <a:srgbClr val="FFFFFF"/>
                </a:solidFill>
                <a:latin typeface="Calibri"/>
              </a:rPr>
              <a:t>4</a:t>
            </a:r>
          </a:p>
        </p:txBody>
      </p:sp>
      <p:sp>
        <p:nvSpPr>
          <p:cNvPr id="24" name="TextBox 23"/>
          <p:cNvSpPr txBox="1"/>
          <p:nvPr/>
        </p:nvSpPr>
        <p:spPr>
          <a:xfrm>
            <a:off x="1152144" y="3849624"/>
            <a:ext cx="6858000" cy="256032"/>
          </a:xfrm>
          <a:prstGeom prst="rect">
            <a:avLst/>
          </a:prstGeom>
          <a:noFill/>
        </p:spPr>
        <p:txBody>
          <a:bodyPr wrap="square" lIns="0" rIns="0" tIns="0" bIns="0" anchor="t"/>
          <a:lstStyle/>
          <a:p>
            <a:pPr algn="l">
              <a:spcBef>
                <a:spcPts val="0"/>
              </a:spcBef>
              <a:spcAft>
                <a:spcPts val="0"/>
              </a:spcAft>
            </a:pPr>
            <a:r>
              <a:rPr sz="1500" b="1" i="0">
                <a:solidFill>
                  <a:srgbClr val="1C2430"/>
                </a:solidFill>
                <a:latin typeface="Calibri"/>
              </a:rPr>
              <a:t>Fit one model</a:t>
            </a:r>
          </a:p>
        </p:txBody>
      </p:sp>
      <p:sp>
        <p:nvSpPr>
          <p:cNvPr id="25" name="TextBox 24"/>
          <p:cNvSpPr txBox="1"/>
          <p:nvPr/>
        </p:nvSpPr>
        <p:spPr>
          <a:xfrm>
            <a:off x="1152144" y="4142232"/>
            <a:ext cx="6858000" cy="420624"/>
          </a:xfrm>
          <a:prstGeom prst="rect">
            <a:avLst/>
          </a:prstGeom>
          <a:noFill/>
        </p:spPr>
        <p:txBody>
          <a:bodyPr wrap="square" lIns="0" rIns="0" tIns="0" bIns="0" anchor="t"/>
          <a:lstStyle/>
          <a:p>
            <a:pPr algn="l">
              <a:spcBef>
                <a:spcPts val="0"/>
              </a:spcBef>
              <a:spcAft>
                <a:spcPts val="0"/>
              </a:spcAft>
            </a:pPr>
            <a:r>
              <a:rPr sz="1300" b="0" i="0">
                <a:solidFill>
                  <a:srgbClr val="5C6670"/>
                </a:solidFill>
                <a:latin typeface="Calibri"/>
              </a:rPr>
              <a:t>Logistic regression with diagnosis group, medication change, A1C tested or not, and the baseline. Keep it only if it wins at that same capacity.</a:t>
            </a:r>
          </a:p>
        </p:txBody>
      </p:sp>
      <p:sp>
        <p:nvSpPr>
          <p:cNvPr id="26" name="Rounded Rectangle 25"/>
          <p:cNvSpPr/>
          <p:nvPr/>
        </p:nvSpPr>
        <p:spPr>
          <a:xfrm>
            <a:off x="411480" y="4690872"/>
            <a:ext cx="7818120" cy="877824"/>
          </a:xfrm>
          <a:prstGeom prst="roundRect">
            <a:avLst>
              <a:gd name="adj" fmla="val 8000"/>
            </a:avLst>
          </a:prstGeom>
          <a:solidFill>
            <a:srgbClr val="FFFFFF"/>
          </a:solidFill>
          <a:ln w="12700">
            <a:solidFill>
              <a:srgbClr val="E2DC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85216" y="4928616"/>
            <a:ext cx="402336" cy="402336"/>
          </a:xfrm>
          <a:prstGeom prst="ellipse">
            <a:avLst/>
          </a:prstGeom>
          <a:solidFill>
            <a:srgbClr val="0E5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5216" y="4965192"/>
            <a:ext cx="402336" cy="329184"/>
          </a:xfrm>
          <a:prstGeom prst="rect">
            <a:avLst/>
          </a:prstGeom>
          <a:noFill/>
        </p:spPr>
        <p:txBody>
          <a:bodyPr wrap="square" lIns="0" rIns="0" tIns="0" bIns="0" anchor="ctr"/>
          <a:lstStyle/>
          <a:p>
            <a:pPr algn="ctr">
              <a:spcBef>
                <a:spcPts val="0"/>
              </a:spcBef>
              <a:spcAft>
                <a:spcPts val="0"/>
              </a:spcAft>
            </a:pPr>
            <a:r>
              <a:rPr sz="1600" b="1" i="0">
                <a:solidFill>
                  <a:srgbClr val="FFFFFF"/>
                </a:solidFill>
                <a:latin typeface="Calibri"/>
              </a:rPr>
              <a:t>5</a:t>
            </a:r>
          </a:p>
        </p:txBody>
      </p:sp>
      <p:sp>
        <p:nvSpPr>
          <p:cNvPr id="29" name="TextBox 28"/>
          <p:cNvSpPr txBox="1"/>
          <p:nvPr/>
        </p:nvSpPr>
        <p:spPr>
          <a:xfrm>
            <a:off x="1152144" y="4782312"/>
            <a:ext cx="6858000" cy="256032"/>
          </a:xfrm>
          <a:prstGeom prst="rect">
            <a:avLst/>
          </a:prstGeom>
          <a:noFill/>
        </p:spPr>
        <p:txBody>
          <a:bodyPr wrap="square" lIns="0" rIns="0" tIns="0" bIns="0" anchor="t"/>
          <a:lstStyle/>
          <a:p>
            <a:pPr algn="l">
              <a:spcBef>
                <a:spcPts val="0"/>
              </a:spcBef>
              <a:spcAft>
                <a:spcPts val="0"/>
              </a:spcAft>
            </a:pPr>
            <a:r>
              <a:rPr sz="1500" b="1" i="0">
                <a:solidFill>
                  <a:srgbClr val="1C2430"/>
                </a:solidFill>
                <a:latin typeface="Calibri"/>
              </a:rPr>
              <a:t>Show the reason</a:t>
            </a:r>
          </a:p>
        </p:txBody>
      </p:sp>
      <p:sp>
        <p:nvSpPr>
          <p:cNvPr id="30" name="TextBox 29"/>
          <p:cNvSpPr txBox="1"/>
          <p:nvPr/>
        </p:nvSpPr>
        <p:spPr>
          <a:xfrm>
            <a:off x="1152144" y="5074920"/>
            <a:ext cx="6858000" cy="420624"/>
          </a:xfrm>
          <a:prstGeom prst="rect">
            <a:avLst/>
          </a:prstGeom>
          <a:noFill/>
        </p:spPr>
        <p:txBody>
          <a:bodyPr wrap="square" lIns="0" rIns="0" tIns="0" bIns="0" anchor="t"/>
          <a:lstStyle/>
          <a:p>
            <a:pPr algn="l">
              <a:spcBef>
                <a:spcPts val="0"/>
              </a:spcBef>
              <a:spcAft>
                <a:spcPts val="0"/>
              </a:spcAft>
            </a:pPr>
            <a:r>
              <a:rPr sz="1300" b="0" i="0">
                <a:solidFill>
                  <a:srgbClr val="5C6670"/>
                </a:solidFill>
                <a:latin typeface="Calibri"/>
              </a:rPr>
              <a:t>Each flagged patient gets a short explanation a nurse can read. A probability alone is not a worklist.</a:t>
            </a:r>
          </a:p>
        </p:txBody>
      </p:sp>
      <p:sp>
        <p:nvSpPr>
          <p:cNvPr id="31" name="Rounded Rectangle 30"/>
          <p:cNvSpPr/>
          <p:nvPr/>
        </p:nvSpPr>
        <p:spPr>
          <a:xfrm>
            <a:off x="8394192" y="960120"/>
            <a:ext cx="3383280" cy="4617720"/>
          </a:xfrm>
          <a:prstGeom prst="roundRect">
            <a:avLst>
              <a:gd name="adj" fmla="val 10000"/>
            </a:avLst>
          </a:prstGeom>
          <a:solidFill>
            <a:srgbClr val="0E5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0" y="1152144"/>
            <a:ext cx="3017520" cy="219456"/>
          </a:xfrm>
          <a:prstGeom prst="rect">
            <a:avLst/>
          </a:prstGeom>
          <a:noFill/>
        </p:spPr>
        <p:txBody>
          <a:bodyPr wrap="square" lIns="0" rIns="0" tIns="0" bIns="0" anchor="t"/>
          <a:lstStyle/>
          <a:p>
            <a:pPr algn="l">
              <a:spcBef>
                <a:spcPts val="0"/>
              </a:spcBef>
              <a:spcAft>
                <a:spcPts val="0"/>
              </a:spcAft>
            </a:pPr>
            <a:r>
              <a:rPr sz="1200" b="1" i="0">
                <a:solidFill>
                  <a:srgbClr val="B7E3DF"/>
                </a:solidFill>
                <a:latin typeface="Calibri"/>
              </a:rPr>
              <a:t>THIS WEEK</a:t>
            </a:r>
          </a:p>
        </p:txBody>
      </p:sp>
      <p:sp>
        <p:nvSpPr>
          <p:cNvPr id="33" name="TextBox 32"/>
          <p:cNvSpPr txBox="1"/>
          <p:nvPr/>
        </p:nvSpPr>
        <p:spPr>
          <a:xfrm>
            <a:off x="8595360" y="1371600"/>
            <a:ext cx="3017520" cy="640080"/>
          </a:xfrm>
          <a:prstGeom prst="rect">
            <a:avLst/>
          </a:prstGeom>
          <a:noFill/>
        </p:spPr>
        <p:txBody>
          <a:bodyPr wrap="square" lIns="0" rIns="0" tIns="0" bIns="0" anchor="t"/>
          <a:lstStyle/>
          <a:p>
            <a:pPr algn="l">
              <a:spcBef>
                <a:spcPts val="0"/>
              </a:spcBef>
              <a:spcAft>
                <a:spcPts val="0"/>
              </a:spcAft>
            </a:pPr>
            <a:r>
              <a:rPr sz="2000" b="1" i="0">
                <a:solidFill>
                  <a:srgbClr val="FFFFFF"/>
                </a:solidFill>
                <a:latin typeface="Calibri"/>
              </a:rPr>
              <a:t>Before any model</a:t>
            </a:r>
          </a:p>
        </p:txBody>
      </p:sp>
      <p:sp>
        <p:nvSpPr>
          <p:cNvPr id="34" name="TextBox 33"/>
          <p:cNvSpPr txBox="1"/>
          <p:nvPr/>
        </p:nvSpPr>
        <p:spPr>
          <a:xfrm>
            <a:off x="8595360" y="2148840"/>
            <a:ext cx="457200" cy="256032"/>
          </a:xfrm>
          <a:prstGeom prst="rect">
            <a:avLst/>
          </a:prstGeom>
          <a:noFill/>
        </p:spPr>
        <p:txBody>
          <a:bodyPr wrap="square" lIns="0" rIns="0" tIns="0" bIns="0" anchor="t"/>
          <a:lstStyle/>
          <a:p>
            <a:pPr algn="l">
              <a:spcBef>
                <a:spcPts val="0"/>
              </a:spcBef>
              <a:spcAft>
                <a:spcPts val="0"/>
              </a:spcAft>
            </a:pPr>
            <a:r>
              <a:rPr sz="1300" b="1" i="0">
                <a:solidFill>
                  <a:srgbClr val="B7E3DF"/>
                </a:solidFill>
                <a:latin typeface="Calibri"/>
              </a:rPr>
              <a:t>01</a:t>
            </a:r>
          </a:p>
        </p:txBody>
      </p:sp>
      <p:sp>
        <p:nvSpPr>
          <p:cNvPr id="35" name="TextBox 34"/>
          <p:cNvSpPr txBox="1"/>
          <p:nvPr/>
        </p:nvSpPr>
        <p:spPr>
          <a:xfrm>
            <a:off x="9098280" y="2148840"/>
            <a:ext cx="2468880" cy="960120"/>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Confirm the three outcome counts: 54,864 with no readmission, 35,545 after 30 days, 11,357 within 30 days.</a:t>
            </a:r>
          </a:p>
        </p:txBody>
      </p:sp>
      <p:sp>
        <p:nvSpPr>
          <p:cNvPr id="36" name="TextBox 35"/>
          <p:cNvSpPr txBox="1"/>
          <p:nvPr/>
        </p:nvSpPr>
        <p:spPr>
          <a:xfrm>
            <a:off x="8595360" y="3200400"/>
            <a:ext cx="457200" cy="256032"/>
          </a:xfrm>
          <a:prstGeom prst="rect">
            <a:avLst/>
          </a:prstGeom>
          <a:noFill/>
        </p:spPr>
        <p:txBody>
          <a:bodyPr wrap="square" lIns="0" rIns="0" tIns="0" bIns="0" anchor="t"/>
          <a:lstStyle/>
          <a:p>
            <a:pPr algn="l">
              <a:spcBef>
                <a:spcPts val="0"/>
              </a:spcBef>
              <a:spcAft>
                <a:spcPts val="0"/>
              </a:spcAft>
            </a:pPr>
            <a:r>
              <a:rPr sz="1300" b="1" i="0">
                <a:solidFill>
                  <a:srgbClr val="B7E3DF"/>
                </a:solidFill>
                <a:latin typeface="Calibri"/>
              </a:rPr>
              <a:t>02</a:t>
            </a:r>
          </a:p>
        </p:txBody>
      </p:sp>
      <p:sp>
        <p:nvSpPr>
          <p:cNvPr id="37" name="TextBox 36"/>
          <p:cNvSpPr txBox="1"/>
          <p:nvPr/>
        </p:nvSpPr>
        <p:spPr>
          <a:xfrm>
            <a:off x="9098280" y="3200400"/>
            <a:ext cx="2468880" cy="960120"/>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Count how many patient IDs appear more than once. Those repeats will leak across a random split.</a:t>
            </a:r>
          </a:p>
        </p:txBody>
      </p:sp>
      <p:sp>
        <p:nvSpPr>
          <p:cNvPr id="38" name="TextBox 37"/>
          <p:cNvSpPr txBox="1"/>
          <p:nvPr/>
        </p:nvSpPr>
        <p:spPr>
          <a:xfrm>
            <a:off x="8595360" y="4251960"/>
            <a:ext cx="457200" cy="256032"/>
          </a:xfrm>
          <a:prstGeom prst="rect">
            <a:avLst/>
          </a:prstGeom>
          <a:noFill/>
        </p:spPr>
        <p:txBody>
          <a:bodyPr wrap="square" lIns="0" rIns="0" tIns="0" bIns="0" anchor="t"/>
          <a:lstStyle/>
          <a:p>
            <a:pPr algn="l">
              <a:spcBef>
                <a:spcPts val="0"/>
              </a:spcBef>
              <a:spcAft>
                <a:spcPts val="0"/>
              </a:spcAft>
            </a:pPr>
            <a:r>
              <a:rPr sz="1300" b="1" i="0">
                <a:solidFill>
                  <a:srgbClr val="B7E3DF"/>
                </a:solidFill>
                <a:latin typeface="Calibri"/>
              </a:rPr>
              <a:t>03</a:t>
            </a:r>
          </a:p>
        </p:txBody>
      </p:sp>
      <p:sp>
        <p:nvSpPr>
          <p:cNvPr id="39" name="TextBox 38"/>
          <p:cNvSpPr txBox="1"/>
          <p:nvPr/>
        </p:nvSpPr>
        <p:spPr>
          <a:xfrm>
            <a:off x="9098280" y="4251960"/>
            <a:ext cx="2468880" cy="960120"/>
          </a:xfrm>
          <a:prstGeom prst="rect">
            <a:avLst/>
          </a:prstGeom>
          <a:noFill/>
        </p:spPr>
        <p:txBody>
          <a:bodyPr wrap="square" lIns="0" rIns="0" tIns="0" bIns="0" anchor="t"/>
          <a:lstStyle/>
          <a:p>
            <a:pPr algn="l">
              <a:spcBef>
                <a:spcPts val="0"/>
              </a:spcBef>
              <a:spcAft>
                <a:spcPts val="0"/>
              </a:spcAft>
            </a:pPr>
            <a:r>
              <a:rPr sz="1200" b="0" i="0">
                <a:solidFill>
                  <a:srgbClr val="FFFFFF"/>
                </a:solidFill>
                <a:latin typeface="Calibri"/>
              </a:rPr>
              <a:t>List discharge codes that mean expired or hospice, and drop those rows before any metric.</a:t>
            </a:r>
          </a:p>
        </p:txBody>
      </p:sp>
      <p:sp>
        <p:nvSpPr>
          <p:cNvPr id="40" name="TextBox 39"/>
          <p:cNvSpPr txBox="1"/>
          <p:nvPr/>
        </p:nvSpPr>
        <p:spPr>
          <a:xfrm>
            <a:off x="411480" y="5687568"/>
            <a:ext cx="11338560" cy="713232"/>
          </a:xfrm>
          <a:prstGeom prst="rect">
            <a:avLst/>
          </a:prstGeom>
          <a:noFill/>
        </p:spPr>
        <p:txBody>
          <a:bodyPr wrap="square" lIns="0" rIns="0" tIns="0" bIns="0" anchor="t"/>
          <a:lstStyle/>
          <a:p>
            <a:pPr algn="l">
              <a:spcBef>
                <a:spcPts val="0"/>
              </a:spcBef>
              <a:spcAft>
                <a:spcPts val="0"/>
              </a:spcAft>
            </a:pPr>
            <a:r>
              <a:rPr sz="1300" b="0" i="0">
                <a:solidFill>
                  <a:srgbClr val="1C2430"/>
                </a:solidFill>
                <a:latin typeface="Calibri"/>
              </a:rPr>
              <a:t>This file cannot support a live clinical model. Care patterns are from 1999–2008, and there is no date or hospital id for a real backtest. The deliverable now is a decision you can defend.</a:t>
            </a:r>
          </a:p>
        </p:txBody>
      </p:sp>
      <p:sp>
        <p:nvSpPr>
          <p:cNvPr id="41" name="Rectangle 40"/>
          <p:cNvSpPr/>
          <p:nvPr/>
        </p:nvSpPr>
        <p:spPr>
          <a:xfrm>
            <a:off x="0" y="6565392"/>
            <a:ext cx="12191695" cy="292608"/>
          </a:xfrm>
          <a:prstGeom prst="rect">
            <a:avLst/>
          </a:prstGeom>
          <a:solidFill>
            <a:srgbClr val="0E5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6583680"/>
            <a:ext cx="7772400" cy="237744"/>
          </a:xfrm>
          <a:prstGeom prst="rect">
            <a:avLst/>
          </a:prstGeom>
          <a:noFill/>
        </p:spPr>
        <p:txBody>
          <a:bodyPr wrap="square" lIns="0" rIns="0" tIns="0" bIns="0" anchor="ctr"/>
          <a:lstStyle/>
          <a:p>
            <a:pPr algn="l">
              <a:spcBef>
                <a:spcPts val="0"/>
              </a:spcBef>
              <a:spcAft>
                <a:spcPts val="0"/>
              </a:spcAft>
            </a:pPr>
            <a:r>
              <a:rPr sz="1100" b="1" i="0">
                <a:solidFill>
                  <a:srgbClr val="FFFFFF"/>
                </a:solidFill>
                <a:latin typeface="Calibri"/>
              </a:rPr>
              <a:t>Step 3 of 3   ·   Possible solution</a:t>
            </a:r>
          </a:p>
        </p:txBody>
      </p:sp>
      <p:sp>
        <p:nvSpPr>
          <p:cNvPr id="43" name="TextBox 42"/>
          <p:cNvSpPr txBox="1"/>
          <p:nvPr/>
        </p:nvSpPr>
        <p:spPr>
          <a:xfrm>
            <a:off x="7589520" y="6583680"/>
            <a:ext cx="4114800" cy="237744"/>
          </a:xfrm>
          <a:prstGeom prst="rect">
            <a:avLst/>
          </a:prstGeom>
          <a:noFill/>
        </p:spPr>
        <p:txBody>
          <a:bodyPr wrap="square" lIns="0" rIns="0" tIns="0" bIns="0" anchor="ctr"/>
          <a:lstStyle/>
          <a:p>
            <a:pPr algn="r">
              <a:spcBef>
                <a:spcPts val="0"/>
              </a:spcBef>
              <a:spcAft>
                <a:spcPts val="0"/>
              </a:spcAft>
            </a:pPr>
            <a:r>
              <a:rPr sz="1100" b="0" i="0">
                <a:solidFill>
                  <a:srgbClr val="D5EEEC"/>
                </a:solidFill>
                <a:latin typeface="Calibri"/>
              </a:rPr>
              <a:t>UCI 296  ·  Strack et al. 2014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should get a follow-up call at discharge?</dc:title>
  <dc:subject>FDE course — diabetic hospital readmission</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Course assignment</cp:category>
</cp:coreProperties>
</file>